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5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2880360"/>
          </a:xfrm>
          <a:prstGeom prst="rect">
            <a:avLst/>
          </a:prstGeom>
          <a:solidFill>
            <a:srgbClr val="2A1D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22960" y="1051560"/>
            <a:ext cx="82296" cy="1005840"/>
          </a:xfrm>
          <a:prstGeom prst="rect">
            <a:avLst/>
          </a:prstGeom>
          <a:solidFill>
            <a:srgbClr val="C88F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7280" y="987552"/>
            <a:ext cx="960120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4600" b="1" i="0">
                <a:solidFill>
                  <a:srgbClr val="FAF5EE"/>
                </a:solidFill>
                <a:latin typeface="Calibri"/>
              </a:rPr>
              <a:t>Kataloji CRM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" y="1755648"/>
            <a:ext cx="96012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900" b="0" i="0">
                <a:solidFill>
                  <a:srgbClr val="C88F7B"/>
                </a:solidFill>
                <a:latin typeface="Calibri"/>
              </a:rPr>
              <a:t>Sistem Kasir dan Loyalitas untuk Kedai Kopi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" y="3429000"/>
            <a:ext cx="5669280" cy="1371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 i="0">
                <a:solidFill>
                  <a:srgbClr val="4A382B"/>
                </a:solidFill>
                <a:latin typeface="Calibri"/>
              </a:rPr>
              <a:t>Kerja Praktek</a:t>
            </a:r>
          </a:p>
          <a:p>
            <a:pPr algn="l">
              <a:lnSpc>
                <a:spcPct val="115000"/>
              </a:lnSpc>
            </a:pPr>
            <a:r>
              <a:rPr sz="1500" b="0" i="0">
                <a:solidFill>
                  <a:srgbClr val="4A382B"/>
                </a:solidFill>
                <a:latin typeface="Calibri"/>
              </a:rPr>
              <a:t>Program Studi Teknik Informatika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097280" y="4343400"/>
            <a:ext cx="4754880" cy="1371600"/>
          </a:xfrm>
          <a:prstGeom prst="roundRect">
            <a:avLst/>
          </a:prstGeom>
          <a:solidFill>
            <a:srgbClr val="FFFDF9"/>
          </a:solidFill>
          <a:ln w="12700">
            <a:solidFill>
              <a:srgbClr val="E4DC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lnSpc>
                <a:spcPct val="100000"/>
              </a:lnSpc>
            </a:pPr>
            <a:r>
              <a:rPr sz="1400" b="0">
                <a:solidFill>
                  <a:srgbClr val="4A382B"/>
                </a:solidFill>
                <a:latin typeface="Calibri"/>
              </a:rPr>
              <a:t/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417320" y="4553712"/>
            <a:ext cx="4206240" cy="1005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250" b="0" i="0">
                <a:solidFill>
                  <a:srgbClr val="4A382B"/>
                </a:solidFill>
                <a:latin typeface="Calibri"/>
              </a:rPr>
              <a:t>Disusun oleh:</a:t>
            </a:r>
          </a:p>
          <a:p>
            <a:pPr algn="l">
              <a:lnSpc>
                <a:spcPct val="130000"/>
              </a:lnSpc>
            </a:pPr>
            <a:r>
              <a:rPr sz="1250" b="0" i="0">
                <a:solidFill>
                  <a:srgbClr val="4A382B"/>
                </a:solidFill>
                <a:latin typeface="Calibri"/>
              </a:rPr>
              <a:t>[nama penyusun]</a:t>
            </a:r>
          </a:p>
          <a:p>
            <a:pPr algn="l">
              <a:lnSpc>
                <a:spcPct val="130000"/>
              </a:lnSpc>
            </a:pPr>
            <a:r>
              <a:rPr sz="1250" b="0" i="0">
                <a:solidFill>
                  <a:srgbClr val="4A382B"/>
                </a:solidFill>
                <a:latin typeface="Calibri"/>
              </a:rPr>
              <a:t/>
            </a:r>
          </a:p>
          <a:p>
            <a:pPr algn="l">
              <a:lnSpc>
                <a:spcPct val="130000"/>
              </a:lnSpc>
            </a:pPr>
            <a:r>
              <a:rPr sz="1250" b="0" i="0">
                <a:solidFill>
                  <a:srgbClr val="4A382B"/>
                </a:solidFill>
                <a:latin typeface="Calibri"/>
              </a:rPr>
              <a:t>Dosen Pembimbing:</a:t>
            </a:r>
          </a:p>
          <a:p>
            <a:pPr algn="l">
              <a:lnSpc>
                <a:spcPct val="130000"/>
              </a:lnSpc>
            </a:pPr>
            <a:r>
              <a:rPr sz="1250" b="0" i="0">
                <a:solidFill>
                  <a:srgbClr val="4A382B"/>
                </a:solidFill>
                <a:latin typeface="Calibri"/>
              </a:rPr>
              <a:t>[nama pembimbing]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766560" y="3429000"/>
            <a:ext cx="4206240" cy="2286000"/>
          </a:xfrm>
          <a:prstGeom prst="roundRect">
            <a:avLst/>
          </a:prstGeom>
          <a:solidFill>
            <a:srgbClr val="FFFDF9"/>
          </a:solidFill>
          <a:ln w="12700">
            <a:solidFill>
              <a:srgbClr val="E4DC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lnSpc>
                <a:spcPct val="100000"/>
              </a:lnSpc>
            </a:pPr>
            <a:r>
              <a:rPr sz="1400" b="0">
                <a:solidFill>
                  <a:srgbClr val="4A382B"/>
                </a:solidFill>
                <a:latin typeface="Calibri"/>
              </a:rPr>
              <a:t/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040880" y="3639312"/>
            <a:ext cx="3657600" cy="1920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2A1D14"/>
                </a:solidFill>
                <a:latin typeface="Calibri"/>
              </a:rPr>
              <a:t>Isi presentasi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040880" y="3950208"/>
            <a:ext cx="3657600" cy="1645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5000"/>
              </a:lnSpc>
            </a:pPr>
            <a:r>
              <a:rPr sz="1150" b="0" i="0">
                <a:solidFill>
                  <a:srgbClr val="4A382B"/>
                </a:solidFill>
                <a:latin typeface="Calibri"/>
              </a:rPr>
              <a:t>1.  Masalah yang ingin diselesaikan</a:t>
            </a:r>
          </a:p>
          <a:p>
            <a:pPr algn="l">
              <a:lnSpc>
                <a:spcPct val="145000"/>
              </a:lnSpc>
            </a:pPr>
            <a:r>
              <a:rPr sz="1150" b="0" i="0">
                <a:solidFill>
                  <a:srgbClr val="4A382B"/>
                </a:solidFill>
                <a:latin typeface="Calibri"/>
              </a:rPr>
              <a:t>2.  Solusi dan cara kerjanya</a:t>
            </a:r>
          </a:p>
          <a:p>
            <a:pPr algn="l">
              <a:lnSpc>
                <a:spcPct val="145000"/>
              </a:lnSpc>
            </a:pPr>
            <a:r>
              <a:rPr sz="1150" b="0" i="0">
                <a:solidFill>
                  <a:srgbClr val="4A382B"/>
                </a:solidFill>
                <a:latin typeface="Calibri"/>
              </a:rPr>
              <a:t>3.  Alur transaksi dan loyalitas</a:t>
            </a:r>
          </a:p>
          <a:p>
            <a:pPr algn="l">
              <a:lnSpc>
                <a:spcPct val="145000"/>
              </a:lnSpc>
            </a:pPr>
            <a:r>
              <a:rPr sz="1150" b="0" i="0">
                <a:solidFill>
                  <a:srgbClr val="4A382B"/>
                </a:solidFill>
                <a:latin typeface="Calibri"/>
              </a:rPr>
              <a:t>4.  Hak akses tiap peran</a:t>
            </a:r>
          </a:p>
          <a:p>
            <a:pPr algn="l">
              <a:lnSpc>
                <a:spcPct val="145000"/>
              </a:lnSpc>
            </a:pPr>
            <a:r>
              <a:rPr sz="1150" b="0" i="0">
                <a:solidFill>
                  <a:srgbClr val="4A382B"/>
                </a:solidFill>
                <a:latin typeface="Calibri"/>
              </a:rPr>
              <a:t>5.  Keamanan dan integritas data</a:t>
            </a:r>
          </a:p>
          <a:p>
            <a:pPr algn="l">
              <a:lnSpc>
                <a:spcPct val="145000"/>
              </a:lnSpc>
            </a:pPr>
            <a:r>
              <a:rPr sz="1150" b="0" i="0">
                <a:solidFill>
                  <a:srgbClr val="4A382B"/>
                </a:solidFill>
                <a:latin typeface="Calibri"/>
              </a:rPr>
              <a:t>6.  Capaian serta rencana lanjutan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5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40080" y="566928"/>
            <a:ext cx="68580" cy="475488"/>
          </a:xfrm>
          <a:prstGeom prst="rect">
            <a:avLst/>
          </a:prstGeom>
          <a:solidFill>
            <a:srgbClr val="C88F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41248" y="530352"/>
            <a:ext cx="96012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 i="0">
                <a:solidFill>
                  <a:srgbClr val="2A1D14"/>
                </a:solidFill>
                <a:latin typeface="Calibri"/>
              </a:rPr>
              <a:t>Masalah yang Ingin Diselesaikan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1248" y="950976"/>
            <a:ext cx="10607040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 i="0">
                <a:solidFill>
                  <a:srgbClr val="8B7361"/>
                </a:solidFill>
                <a:latin typeface="Calibri"/>
              </a:rPr>
              <a:t>Pencatatan manual menyulitkan pemilik mengetahui keadaan usahanya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55680" y="6327648"/>
            <a:ext cx="5486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 i="0">
                <a:solidFill>
                  <a:srgbClr val="8B7361"/>
                </a:solidFill>
                <a:latin typeface="Calibri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6327648"/>
            <a:ext cx="4572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0">
                <a:solidFill>
                  <a:srgbClr val="8B7361"/>
                </a:solidFill>
                <a:latin typeface="Calibri"/>
              </a:rPr>
              <a:t>Kataloji CRM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41248" y="1572768"/>
            <a:ext cx="5504688" cy="2057400"/>
          </a:xfrm>
          <a:prstGeom prst="roundRect">
            <a:avLst/>
          </a:prstGeom>
          <a:solidFill>
            <a:srgbClr val="FFFDF9"/>
          </a:solidFill>
          <a:ln w="12700">
            <a:solidFill>
              <a:srgbClr val="E4DC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lnSpc>
                <a:spcPct val="100000"/>
              </a:lnSpc>
            </a:pPr>
            <a:r>
              <a:rPr sz="1400" b="0">
                <a:solidFill>
                  <a:srgbClr val="4A382B"/>
                </a:solidFill>
                <a:latin typeface="Calibri"/>
              </a:rPr>
              <a:t/>
            </a:r>
          </a:p>
        </p:txBody>
      </p:sp>
      <p:sp>
        <p:nvSpPr>
          <p:cNvPr id="9" name="Oval 8"/>
          <p:cNvSpPr/>
          <p:nvPr/>
        </p:nvSpPr>
        <p:spPr>
          <a:xfrm>
            <a:off x="1115568" y="1847088"/>
            <a:ext cx="475488" cy="475488"/>
          </a:xfrm>
          <a:prstGeom prst="ellipse">
            <a:avLst/>
          </a:prstGeom>
          <a:solidFill>
            <a:srgbClr val="B455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lnSpc>
                <a:spcPct val="100000"/>
              </a:lnSpc>
            </a:pPr>
            <a:r>
              <a:rPr sz="1700" b="1">
                <a:solidFill>
                  <a:srgbClr val="FAF5EE"/>
                </a:solidFill>
                <a:latin typeface="Calibri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755648" y="1883664"/>
            <a:ext cx="42976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 i="0">
                <a:solidFill>
                  <a:srgbClr val="2A1D14"/>
                </a:solidFill>
                <a:latin typeface="Calibri"/>
              </a:rPr>
              <a:t>Pelanggan tidak dikenali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52144" y="2468880"/>
            <a:ext cx="4937760" cy="1005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0" i="0">
                <a:solidFill>
                  <a:srgbClr val="4A382B"/>
                </a:solidFill>
                <a:latin typeface="Calibri"/>
              </a:rPr>
              <a:t>Tidak ada catatan siapa yang sering datang, sehingga pelanggan setia diperlakukan sama seperti pembeli baru.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528816" y="1572768"/>
            <a:ext cx="5504688" cy="2057400"/>
          </a:xfrm>
          <a:prstGeom prst="roundRect">
            <a:avLst/>
          </a:prstGeom>
          <a:solidFill>
            <a:srgbClr val="FFFDF9"/>
          </a:solidFill>
          <a:ln w="12700">
            <a:solidFill>
              <a:srgbClr val="E4DC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lnSpc>
                <a:spcPct val="100000"/>
              </a:lnSpc>
            </a:pPr>
            <a:r>
              <a:rPr sz="1400" b="0">
                <a:solidFill>
                  <a:srgbClr val="4A382B"/>
                </a:solidFill>
                <a:latin typeface="Calibri"/>
              </a:rPr>
              <a:t/>
            </a:r>
          </a:p>
        </p:txBody>
      </p:sp>
      <p:sp>
        <p:nvSpPr>
          <p:cNvPr id="13" name="Oval 12"/>
          <p:cNvSpPr/>
          <p:nvPr/>
        </p:nvSpPr>
        <p:spPr>
          <a:xfrm>
            <a:off x="6803136" y="1847088"/>
            <a:ext cx="475488" cy="475488"/>
          </a:xfrm>
          <a:prstGeom prst="ellipse">
            <a:avLst/>
          </a:prstGeom>
          <a:solidFill>
            <a:srgbClr val="B455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lnSpc>
                <a:spcPct val="100000"/>
              </a:lnSpc>
            </a:pPr>
            <a:r>
              <a:rPr sz="1700" b="1">
                <a:solidFill>
                  <a:srgbClr val="FAF5EE"/>
                </a:solidFill>
                <a:latin typeface="Calibri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443216" y="1883664"/>
            <a:ext cx="42976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 i="0">
                <a:solidFill>
                  <a:srgbClr val="2A1D14"/>
                </a:solidFill>
                <a:latin typeface="Calibri"/>
              </a:rPr>
              <a:t>Poin dicatat di kertas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839712" y="2468880"/>
            <a:ext cx="4937760" cy="1005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0" i="0">
                <a:solidFill>
                  <a:srgbClr val="4A382B"/>
                </a:solidFill>
                <a:latin typeface="Calibri"/>
              </a:rPr>
              <a:t>Kartu stempel mudah hilang, salah hitung, dan tidak bisa diperiksa ulang kalau pelanggan merasa poinnya kurang.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41248" y="3831336"/>
            <a:ext cx="5504688" cy="2057400"/>
          </a:xfrm>
          <a:prstGeom prst="roundRect">
            <a:avLst/>
          </a:prstGeom>
          <a:solidFill>
            <a:srgbClr val="FFFDF9"/>
          </a:solidFill>
          <a:ln w="12700">
            <a:solidFill>
              <a:srgbClr val="E4DC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lnSpc>
                <a:spcPct val="100000"/>
              </a:lnSpc>
            </a:pPr>
            <a:r>
              <a:rPr sz="1400" b="0">
                <a:solidFill>
                  <a:srgbClr val="4A382B"/>
                </a:solidFill>
                <a:latin typeface="Calibri"/>
              </a:rPr>
              <a:t/>
            </a:r>
          </a:p>
        </p:txBody>
      </p:sp>
      <p:sp>
        <p:nvSpPr>
          <p:cNvPr id="17" name="Oval 16"/>
          <p:cNvSpPr/>
          <p:nvPr/>
        </p:nvSpPr>
        <p:spPr>
          <a:xfrm>
            <a:off x="1115568" y="4105656"/>
            <a:ext cx="475488" cy="475488"/>
          </a:xfrm>
          <a:prstGeom prst="ellipse">
            <a:avLst/>
          </a:prstGeom>
          <a:solidFill>
            <a:srgbClr val="B455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lnSpc>
                <a:spcPct val="100000"/>
              </a:lnSpc>
            </a:pPr>
            <a:r>
              <a:rPr sz="1700" b="1">
                <a:solidFill>
                  <a:srgbClr val="FAF5EE"/>
                </a:solidFill>
                <a:latin typeface="Calibri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755648" y="4142232"/>
            <a:ext cx="42976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 i="0">
                <a:solidFill>
                  <a:srgbClr val="2A1D14"/>
                </a:solidFill>
                <a:latin typeface="Calibri"/>
              </a:rPr>
              <a:t>Promosi tanpa sasaran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52144" y="4727448"/>
            <a:ext cx="4937760" cy="1005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0" i="0">
                <a:solidFill>
                  <a:srgbClr val="4A382B"/>
                </a:solidFill>
                <a:latin typeface="Calibri"/>
              </a:rPr>
              <a:t>Pesan ditawarkan ke semua orang karena tidak ada cara memilih pelanggan yang memang perlu dihubungi.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528816" y="3831336"/>
            <a:ext cx="5504688" cy="2057400"/>
          </a:xfrm>
          <a:prstGeom prst="roundRect">
            <a:avLst/>
          </a:prstGeom>
          <a:solidFill>
            <a:srgbClr val="FFFDF9"/>
          </a:solidFill>
          <a:ln w="12700">
            <a:solidFill>
              <a:srgbClr val="E4DC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lnSpc>
                <a:spcPct val="100000"/>
              </a:lnSpc>
            </a:pPr>
            <a:r>
              <a:rPr sz="1400" b="0">
                <a:solidFill>
                  <a:srgbClr val="4A382B"/>
                </a:solidFill>
                <a:latin typeface="Calibri"/>
              </a:rPr>
              <a:t/>
            </a:r>
          </a:p>
        </p:txBody>
      </p:sp>
      <p:sp>
        <p:nvSpPr>
          <p:cNvPr id="21" name="Oval 20"/>
          <p:cNvSpPr/>
          <p:nvPr/>
        </p:nvSpPr>
        <p:spPr>
          <a:xfrm>
            <a:off x="6803136" y="4105656"/>
            <a:ext cx="475488" cy="475488"/>
          </a:xfrm>
          <a:prstGeom prst="ellipse">
            <a:avLst/>
          </a:prstGeom>
          <a:solidFill>
            <a:srgbClr val="B455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lnSpc>
                <a:spcPct val="100000"/>
              </a:lnSpc>
            </a:pPr>
            <a:r>
              <a:rPr sz="1700" b="1">
                <a:solidFill>
                  <a:srgbClr val="FAF5EE"/>
                </a:solidFill>
                <a:latin typeface="Calibri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443216" y="4142232"/>
            <a:ext cx="42976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 i="0">
                <a:solidFill>
                  <a:srgbClr val="2A1D14"/>
                </a:solidFill>
                <a:latin typeface="Calibri"/>
              </a:rPr>
              <a:t>Pemilik tidak melihat angka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839712" y="4727448"/>
            <a:ext cx="4937760" cy="1005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0" i="0">
                <a:solidFill>
                  <a:srgbClr val="4A382B"/>
                </a:solidFill>
                <a:latin typeface="Calibri"/>
              </a:rPr>
              <a:t>Penjualan harian hanya diketahui dari ingatan atau catatan terpisah, dan baru terasa hasilnya di akhir bulan.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41248" y="5870448"/>
            <a:ext cx="10515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 i="1">
                <a:solidFill>
                  <a:srgbClr val="C88F7B"/>
                </a:solidFill>
                <a:latin typeface="Calibri"/>
              </a:rPr>
              <a:t>Akibatnya pemilik mengambil keputusan berdasarkan perkiraan, bukan catatan.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5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40080" y="566928"/>
            <a:ext cx="68580" cy="475488"/>
          </a:xfrm>
          <a:prstGeom prst="rect">
            <a:avLst/>
          </a:prstGeom>
          <a:solidFill>
            <a:srgbClr val="C88F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41248" y="530352"/>
            <a:ext cx="96012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 i="0">
                <a:solidFill>
                  <a:srgbClr val="2A1D14"/>
                </a:solidFill>
                <a:latin typeface="Calibri"/>
              </a:rPr>
              <a:t>Solusi: Kataloji CRM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1248" y="950976"/>
            <a:ext cx="10607040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 i="0">
                <a:solidFill>
                  <a:srgbClr val="8B7361"/>
                </a:solidFill>
                <a:latin typeface="Calibri"/>
              </a:rPr>
              <a:t>Satu aplikasi kasir yang sekaligus mencatat pelanggan dan poinnya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55680" y="6327648"/>
            <a:ext cx="5486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 i="0">
                <a:solidFill>
                  <a:srgbClr val="8B7361"/>
                </a:solidFill>
                <a:latin typeface="Calibri"/>
              </a:rPr>
              <a:t>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6327648"/>
            <a:ext cx="4572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0">
                <a:solidFill>
                  <a:srgbClr val="8B7361"/>
                </a:solidFill>
                <a:latin typeface="Calibri"/>
              </a:rPr>
              <a:t>Kataloji CRM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41248" y="1600200"/>
            <a:ext cx="10515600" cy="1051560"/>
          </a:xfrm>
          <a:prstGeom prst="roundRect">
            <a:avLst/>
          </a:prstGeom>
          <a:solidFill>
            <a:srgbClr val="FFFDF9"/>
          </a:solidFill>
          <a:ln w="19050">
            <a:solidFill>
              <a:srgbClr val="C88F7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lnSpc>
                <a:spcPct val="130000"/>
              </a:lnSpc>
            </a:pPr>
            <a:r>
              <a:rPr sz="1300" b="0">
                <a:solidFill>
                  <a:srgbClr val="4A382B"/>
                </a:solidFill>
                <a:latin typeface="Calibri"/>
              </a:rPr>
              <a:t>Aplikasi ini menggantikan pencatatan kertas dengan basis data yang terhubung langsung ke proses kasir. Pelanggan dikenali saat membayar, poin tercatat sendiri, dan pemilik dapat melihat keadaan usahanya kapan saja.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41248" y="2880360"/>
            <a:ext cx="3465576" cy="1481328"/>
          </a:xfrm>
          <a:prstGeom prst="roundRect">
            <a:avLst/>
          </a:prstGeom>
          <a:solidFill>
            <a:srgbClr val="FFFDF9"/>
          </a:solidFill>
          <a:ln w="12700">
            <a:solidFill>
              <a:srgbClr val="E4DC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lnSpc>
                <a:spcPct val="100000"/>
              </a:lnSpc>
            </a:pPr>
            <a:r>
              <a:rPr sz="1400" b="0">
                <a:solidFill>
                  <a:srgbClr val="4A382B"/>
                </a:solidFill>
                <a:latin typeface="Calibri"/>
              </a:rPr>
              <a:t/>
            </a:r>
          </a:p>
        </p:txBody>
      </p:sp>
      <p:sp>
        <p:nvSpPr>
          <p:cNvPr id="10" name="Rectangle 9"/>
          <p:cNvSpPr/>
          <p:nvPr/>
        </p:nvSpPr>
        <p:spPr>
          <a:xfrm>
            <a:off x="841248" y="2880360"/>
            <a:ext cx="3465576" cy="50292"/>
          </a:xfrm>
          <a:prstGeom prst="rect">
            <a:avLst/>
          </a:prstGeom>
          <a:solidFill>
            <a:srgbClr val="839A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78992" y="3099816"/>
            <a:ext cx="3017520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 i="0">
                <a:solidFill>
                  <a:srgbClr val="2A1D14"/>
                </a:solidFill>
                <a:latin typeface="Calibri"/>
              </a:rPr>
              <a:t>Kasir cepat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78992" y="3483864"/>
            <a:ext cx="3017520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4A382B"/>
                </a:solidFill>
                <a:latin typeface="Calibri"/>
              </a:rPr>
              <a:t>Mencatat transaksi dan mencari pelanggan tanpa menghentikan antrean.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453128" y="2880360"/>
            <a:ext cx="3465576" cy="1481328"/>
          </a:xfrm>
          <a:prstGeom prst="roundRect">
            <a:avLst/>
          </a:prstGeom>
          <a:solidFill>
            <a:srgbClr val="FFFDF9"/>
          </a:solidFill>
          <a:ln w="12700">
            <a:solidFill>
              <a:srgbClr val="E4DC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lnSpc>
                <a:spcPct val="100000"/>
              </a:lnSpc>
            </a:pPr>
            <a:r>
              <a:rPr sz="1400" b="0">
                <a:solidFill>
                  <a:srgbClr val="4A382B"/>
                </a:solidFill>
                <a:latin typeface="Calibri"/>
              </a:rPr>
              <a:t/>
            </a:r>
          </a:p>
        </p:txBody>
      </p:sp>
      <p:sp>
        <p:nvSpPr>
          <p:cNvPr id="14" name="Rectangle 13"/>
          <p:cNvSpPr/>
          <p:nvPr/>
        </p:nvSpPr>
        <p:spPr>
          <a:xfrm>
            <a:off x="4453128" y="2880360"/>
            <a:ext cx="3465576" cy="50292"/>
          </a:xfrm>
          <a:prstGeom prst="rect">
            <a:avLst/>
          </a:prstGeom>
          <a:solidFill>
            <a:srgbClr val="839A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690872" y="3099816"/>
            <a:ext cx="3017520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 i="0">
                <a:solidFill>
                  <a:srgbClr val="2A1D14"/>
                </a:solidFill>
                <a:latin typeface="Calibri"/>
              </a:rPr>
              <a:t>Poin otomatis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690872" y="3483864"/>
            <a:ext cx="3017520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4A382B"/>
                </a:solidFill>
                <a:latin typeface="Calibri"/>
              </a:rPr>
              <a:t>Poin dihitung dari total belanja, tidak lagi ditulis tangan.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065008" y="2880360"/>
            <a:ext cx="3465576" cy="1481328"/>
          </a:xfrm>
          <a:prstGeom prst="roundRect">
            <a:avLst/>
          </a:prstGeom>
          <a:solidFill>
            <a:srgbClr val="FFFDF9"/>
          </a:solidFill>
          <a:ln w="12700">
            <a:solidFill>
              <a:srgbClr val="E4DC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lnSpc>
                <a:spcPct val="100000"/>
              </a:lnSpc>
            </a:pPr>
            <a:r>
              <a:rPr sz="1400" b="0">
                <a:solidFill>
                  <a:srgbClr val="4A382B"/>
                </a:solidFill>
                <a:latin typeface="Calibri"/>
              </a:rPr>
              <a:t/>
            </a:r>
          </a:p>
        </p:txBody>
      </p:sp>
      <p:sp>
        <p:nvSpPr>
          <p:cNvPr id="18" name="Rectangle 17"/>
          <p:cNvSpPr/>
          <p:nvPr/>
        </p:nvSpPr>
        <p:spPr>
          <a:xfrm>
            <a:off x="8065008" y="2880360"/>
            <a:ext cx="3465576" cy="50292"/>
          </a:xfrm>
          <a:prstGeom prst="rect">
            <a:avLst/>
          </a:prstGeom>
          <a:solidFill>
            <a:srgbClr val="C88F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302752" y="3099816"/>
            <a:ext cx="3017520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 i="0">
                <a:solidFill>
                  <a:srgbClr val="2A1D14"/>
                </a:solidFill>
                <a:latin typeface="Calibri"/>
              </a:rPr>
              <a:t>Riwayat utuh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302752" y="3483864"/>
            <a:ext cx="3017520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4A382B"/>
                </a:solidFill>
                <a:latin typeface="Calibri"/>
              </a:rPr>
              <a:t>Poin yang masuk maupun yang dipakai tersimpan sebagai jejak.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41248" y="4544568"/>
            <a:ext cx="3465576" cy="1481328"/>
          </a:xfrm>
          <a:prstGeom prst="roundRect">
            <a:avLst/>
          </a:prstGeom>
          <a:solidFill>
            <a:srgbClr val="FFFDF9"/>
          </a:solidFill>
          <a:ln w="12700">
            <a:solidFill>
              <a:srgbClr val="E4DC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lnSpc>
                <a:spcPct val="100000"/>
              </a:lnSpc>
            </a:pPr>
            <a:r>
              <a:rPr sz="1400" b="0">
                <a:solidFill>
                  <a:srgbClr val="4A382B"/>
                </a:solidFill>
                <a:latin typeface="Calibri"/>
              </a:rPr>
              <a:t/>
            </a:r>
          </a:p>
        </p:txBody>
      </p:sp>
      <p:sp>
        <p:nvSpPr>
          <p:cNvPr id="22" name="Rectangle 21"/>
          <p:cNvSpPr/>
          <p:nvPr/>
        </p:nvSpPr>
        <p:spPr>
          <a:xfrm>
            <a:off x="841248" y="4544568"/>
            <a:ext cx="3465576" cy="50292"/>
          </a:xfrm>
          <a:prstGeom prst="rect">
            <a:avLst/>
          </a:prstGeom>
          <a:solidFill>
            <a:srgbClr val="C88F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078992" y="4764024"/>
            <a:ext cx="3017520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 i="0">
                <a:solidFill>
                  <a:srgbClr val="2A1D14"/>
                </a:solidFill>
                <a:latin typeface="Calibri"/>
              </a:rPr>
              <a:t>Pesan bersasaran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78992" y="5148072"/>
            <a:ext cx="3017520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4A382B"/>
                </a:solidFill>
                <a:latin typeface="Calibri"/>
              </a:rPr>
              <a:t>Menghubungi pelanggan tertentu lewat WhatsApp tanpa biaya tambahan.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4453128" y="4544568"/>
            <a:ext cx="3465576" cy="1481328"/>
          </a:xfrm>
          <a:prstGeom prst="roundRect">
            <a:avLst/>
          </a:prstGeom>
          <a:solidFill>
            <a:srgbClr val="FFFDF9"/>
          </a:solidFill>
          <a:ln w="12700">
            <a:solidFill>
              <a:srgbClr val="E4DC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lnSpc>
                <a:spcPct val="100000"/>
              </a:lnSpc>
            </a:pPr>
            <a:r>
              <a:rPr sz="1400" b="0">
                <a:solidFill>
                  <a:srgbClr val="4A382B"/>
                </a:solidFill>
                <a:latin typeface="Calibri"/>
              </a:rPr>
              <a:t/>
            </a:r>
          </a:p>
        </p:txBody>
      </p:sp>
      <p:sp>
        <p:nvSpPr>
          <p:cNvPr id="26" name="Rectangle 25"/>
          <p:cNvSpPr/>
          <p:nvPr/>
        </p:nvSpPr>
        <p:spPr>
          <a:xfrm>
            <a:off x="4453128" y="4544568"/>
            <a:ext cx="3465576" cy="50292"/>
          </a:xfrm>
          <a:prstGeom prst="rect">
            <a:avLst/>
          </a:prstGeom>
          <a:solidFill>
            <a:srgbClr val="D9CC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690872" y="4764024"/>
            <a:ext cx="3017520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 i="0">
                <a:solidFill>
                  <a:srgbClr val="2A1D14"/>
                </a:solidFill>
                <a:latin typeface="Calibri"/>
              </a:rPr>
              <a:t>Angka terbaca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690872" y="5148072"/>
            <a:ext cx="3017520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4A382B"/>
                </a:solidFill>
                <a:latin typeface="Calibri"/>
              </a:rPr>
              <a:t>Pemilik melihat penjualan, pelanggan setia, dan jam ramai.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8065008" y="4544568"/>
            <a:ext cx="3465576" cy="1481328"/>
          </a:xfrm>
          <a:prstGeom prst="roundRect">
            <a:avLst/>
          </a:prstGeom>
          <a:solidFill>
            <a:srgbClr val="FFFDF9"/>
          </a:solidFill>
          <a:ln w="12700">
            <a:solidFill>
              <a:srgbClr val="E4DC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lnSpc>
                <a:spcPct val="100000"/>
              </a:lnSpc>
            </a:pPr>
            <a:r>
              <a:rPr sz="1400" b="0">
                <a:solidFill>
                  <a:srgbClr val="4A382B"/>
                </a:solidFill>
                <a:latin typeface="Calibri"/>
              </a:rPr>
              <a:t/>
            </a:r>
          </a:p>
        </p:txBody>
      </p:sp>
      <p:sp>
        <p:nvSpPr>
          <p:cNvPr id="30" name="Rectangle 29"/>
          <p:cNvSpPr/>
          <p:nvPr/>
        </p:nvSpPr>
        <p:spPr>
          <a:xfrm>
            <a:off x="8065008" y="4544568"/>
            <a:ext cx="3465576" cy="50292"/>
          </a:xfrm>
          <a:prstGeom prst="rect">
            <a:avLst/>
          </a:prstGeom>
          <a:solidFill>
            <a:srgbClr val="D9CC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302752" y="4764024"/>
            <a:ext cx="3017520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 i="0">
                <a:solidFill>
                  <a:srgbClr val="2A1D14"/>
                </a:solidFill>
                <a:latin typeface="Calibri"/>
              </a:rPr>
              <a:t>Hak akses berjenjang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302752" y="5148072"/>
            <a:ext cx="3017520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4A382B"/>
                </a:solidFill>
                <a:latin typeface="Calibri"/>
              </a:rPr>
              <a:t>Pemilik, pengelola, dan kasir melihat hal yang berbeda.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5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40080" y="566928"/>
            <a:ext cx="68580" cy="475488"/>
          </a:xfrm>
          <a:prstGeom prst="rect">
            <a:avLst/>
          </a:prstGeom>
          <a:solidFill>
            <a:srgbClr val="C88F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41248" y="530352"/>
            <a:ext cx="96012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 i="0">
                <a:solidFill>
                  <a:srgbClr val="2A1D14"/>
                </a:solidFill>
                <a:latin typeface="Calibri"/>
              </a:rPr>
              <a:t>Alur Transaksi dan Perolehan Poin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1248" y="950976"/>
            <a:ext cx="10607040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 i="0">
                <a:solidFill>
                  <a:srgbClr val="8B7361"/>
                </a:solidFill>
                <a:latin typeface="Calibri"/>
              </a:rPr>
              <a:t>Dari pelanggan membayar sampai poin tercatat di buku besar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55680" y="6327648"/>
            <a:ext cx="5486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 i="0">
                <a:solidFill>
                  <a:srgbClr val="8B7361"/>
                </a:solidFill>
                <a:latin typeface="Calibri"/>
              </a:rPr>
              <a:t>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6327648"/>
            <a:ext cx="4572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0">
                <a:solidFill>
                  <a:srgbClr val="8B7361"/>
                </a:solidFill>
                <a:latin typeface="Calibri"/>
              </a:rPr>
              <a:t>Kataloji CRM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41248" y="1965960"/>
            <a:ext cx="1975104" cy="1417320"/>
          </a:xfrm>
          <a:prstGeom prst="roundRect">
            <a:avLst/>
          </a:prstGeom>
          <a:solidFill>
            <a:srgbClr val="FFFDF9"/>
          </a:solidFill>
          <a:ln w="15875">
            <a:solidFill>
              <a:srgbClr val="C88F7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lnSpc>
                <a:spcPct val="100000"/>
              </a:lnSpc>
            </a:pPr>
            <a:r>
              <a:rPr sz="1400" b="0">
                <a:solidFill>
                  <a:srgbClr val="4A382B"/>
                </a:solidFill>
                <a:latin typeface="Calibri"/>
              </a:rPr>
              <a:t/>
            </a:r>
          </a:p>
        </p:txBody>
      </p:sp>
      <p:sp>
        <p:nvSpPr>
          <p:cNvPr id="9" name="Oval 8"/>
          <p:cNvSpPr/>
          <p:nvPr/>
        </p:nvSpPr>
        <p:spPr>
          <a:xfrm>
            <a:off x="1655064" y="1792224"/>
            <a:ext cx="347472" cy="347472"/>
          </a:xfrm>
          <a:prstGeom prst="ellipse">
            <a:avLst/>
          </a:prstGeom>
          <a:solidFill>
            <a:srgbClr val="C88F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FAF5EE"/>
                </a:solidFill>
                <a:latin typeface="Calibri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9264" y="2240280"/>
            <a:ext cx="1719072" cy="60350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250" b="1" i="0">
                <a:solidFill>
                  <a:srgbClr val="2A1D14"/>
                </a:solidFill>
                <a:latin typeface="Calibri"/>
              </a:rPr>
              <a:t>Kasir memilih</a:t>
            </a:r>
          </a:p>
          <a:p>
            <a:pPr algn="ctr">
              <a:lnSpc>
                <a:spcPct val="110000"/>
              </a:lnSpc>
            </a:pPr>
            <a:r>
              <a:rPr sz="1250" b="1" i="0">
                <a:solidFill>
                  <a:srgbClr val="2A1D14"/>
                </a:solidFill>
                <a:latin typeface="Calibri"/>
              </a:rPr>
              <a:t>pelanggan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50976" y="2880360"/>
            <a:ext cx="1755648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950" b="0" i="0">
                <a:solidFill>
                  <a:srgbClr val="8B7361"/>
                </a:solidFill>
                <a:latin typeface="Calibri"/>
              </a:rPr>
              <a:t>Cari nama atau nomor WhatsApp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2834640" y="2674620"/>
            <a:ext cx="155448" cy="0"/>
          </a:xfrm>
          <a:prstGeom prst="line">
            <a:avLst/>
          </a:prstGeom>
          <a:ln w="25400">
            <a:solidFill>
              <a:srgbClr val="C88F7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ounded Rectangle 12"/>
          <p:cNvSpPr/>
          <p:nvPr/>
        </p:nvSpPr>
        <p:spPr>
          <a:xfrm>
            <a:off x="3008376" y="1965960"/>
            <a:ext cx="1975104" cy="1417320"/>
          </a:xfrm>
          <a:prstGeom prst="roundRect">
            <a:avLst/>
          </a:prstGeom>
          <a:solidFill>
            <a:srgbClr val="FFFDF9"/>
          </a:solidFill>
          <a:ln w="15875">
            <a:solidFill>
              <a:srgbClr val="C88F7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lnSpc>
                <a:spcPct val="100000"/>
              </a:lnSpc>
            </a:pPr>
            <a:r>
              <a:rPr sz="1400" b="0">
                <a:solidFill>
                  <a:srgbClr val="4A382B"/>
                </a:solidFill>
                <a:latin typeface="Calibri"/>
              </a:rPr>
              <a:t/>
            </a:r>
          </a:p>
        </p:txBody>
      </p:sp>
      <p:sp>
        <p:nvSpPr>
          <p:cNvPr id="14" name="Oval 13"/>
          <p:cNvSpPr/>
          <p:nvPr/>
        </p:nvSpPr>
        <p:spPr>
          <a:xfrm>
            <a:off x="3822192" y="1792224"/>
            <a:ext cx="347472" cy="347472"/>
          </a:xfrm>
          <a:prstGeom prst="ellipse">
            <a:avLst/>
          </a:prstGeom>
          <a:solidFill>
            <a:srgbClr val="C88F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FAF5EE"/>
                </a:solidFill>
                <a:latin typeface="Calibri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136392" y="2240280"/>
            <a:ext cx="1719072" cy="60350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250" b="1" i="0">
                <a:solidFill>
                  <a:srgbClr val="2A1D14"/>
                </a:solidFill>
                <a:latin typeface="Calibri"/>
              </a:rPr>
              <a:t>Kasir mengisi</a:t>
            </a:r>
          </a:p>
          <a:p>
            <a:pPr algn="ctr">
              <a:lnSpc>
                <a:spcPct val="110000"/>
              </a:lnSpc>
            </a:pPr>
            <a:r>
              <a:rPr sz="1250" b="1" i="0">
                <a:solidFill>
                  <a:srgbClr val="2A1D14"/>
                </a:solidFill>
                <a:latin typeface="Calibri"/>
              </a:rPr>
              <a:t>total belanja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118104" y="2880360"/>
            <a:ext cx="1755648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950" b="0" i="0">
                <a:solidFill>
                  <a:srgbClr val="8B7361"/>
                </a:solidFill>
                <a:latin typeface="Calibri"/>
              </a:rPr>
              <a:t>Nominal pembayaran yang diterima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5001768" y="2674620"/>
            <a:ext cx="155448" cy="0"/>
          </a:xfrm>
          <a:prstGeom prst="line">
            <a:avLst/>
          </a:prstGeom>
          <a:ln w="25400">
            <a:solidFill>
              <a:srgbClr val="C88F7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Rounded Rectangle 17"/>
          <p:cNvSpPr/>
          <p:nvPr/>
        </p:nvSpPr>
        <p:spPr>
          <a:xfrm>
            <a:off x="5175504" y="1965960"/>
            <a:ext cx="1975104" cy="1417320"/>
          </a:xfrm>
          <a:prstGeom prst="roundRect">
            <a:avLst/>
          </a:prstGeom>
          <a:solidFill>
            <a:srgbClr val="FFFDF9"/>
          </a:solidFill>
          <a:ln w="15875">
            <a:solidFill>
              <a:srgbClr val="C88F7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lnSpc>
                <a:spcPct val="100000"/>
              </a:lnSpc>
            </a:pPr>
            <a:r>
              <a:rPr sz="1400" b="0">
                <a:solidFill>
                  <a:srgbClr val="4A382B"/>
                </a:solidFill>
                <a:latin typeface="Calibri"/>
              </a:rPr>
              <a:t/>
            </a:r>
          </a:p>
        </p:txBody>
      </p:sp>
      <p:sp>
        <p:nvSpPr>
          <p:cNvPr id="19" name="Oval 18"/>
          <p:cNvSpPr/>
          <p:nvPr/>
        </p:nvSpPr>
        <p:spPr>
          <a:xfrm>
            <a:off x="5989320" y="1792224"/>
            <a:ext cx="347472" cy="347472"/>
          </a:xfrm>
          <a:prstGeom prst="ellipse">
            <a:avLst/>
          </a:prstGeom>
          <a:solidFill>
            <a:srgbClr val="C88F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FAF5EE"/>
                </a:solidFill>
                <a:latin typeface="Calibri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303520" y="2240280"/>
            <a:ext cx="1719072" cy="60350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250" b="1" i="0">
                <a:solidFill>
                  <a:srgbClr val="2A1D14"/>
                </a:solidFill>
                <a:latin typeface="Calibri"/>
              </a:rPr>
              <a:t>Poin dihitung</a:t>
            </a:r>
          </a:p>
          <a:p>
            <a:pPr algn="ctr">
              <a:lnSpc>
                <a:spcPct val="110000"/>
              </a:lnSpc>
            </a:pPr>
            <a:r>
              <a:rPr sz="1250" b="1" i="0">
                <a:solidFill>
                  <a:srgbClr val="2A1D14"/>
                </a:solidFill>
                <a:latin typeface="Calibri"/>
              </a:rPr>
              <a:t>otomatis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285232" y="2880360"/>
            <a:ext cx="1755648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950" b="0" i="0">
                <a:solidFill>
                  <a:srgbClr val="8B7361"/>
                </a:solidFill>
                <a:latin typeface="Calibri"/>
              </a:rPr>
              <a:t>Rp 20.000 belanja = 1 poin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7168896" y="2674620"/>
            <a:ext cx="155448" cy="0"/>
          </a:xfrm>
          <a:prstGeom prst="line">
            <a:avLst/>
          </a:prstGeom>
          <a:ln w="25400">
            <a:solidFill>
              <a:srgbClr val="C88F7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Rounded Rectangle 22"/>
          <p:cNvSpPr/>
          <p:nvPr/>
        </p:nvSpPr>
        <p:spPr>
          <a:xfrm>
            <a:off x="7342632" y="1965960"/>
            <a:ext cx="1975104" cy="1417320"/>
          </a:xfrm>
          <a:prstGeom prst="roundRect">
            <a:avLst/>
          </a:prstGeom>
          <a:solidFill>
            <a:srgbClr val="FFFDF9"/>
          </a:solidFill>
          <a:ln w="15875">
            <a:solidFill>
              <a:srgbClr val="C88F7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lnSpc>
                <a:spcPct val="100000"/>
              </a:lnSpc>
            </a:pPr>
            <a:r>
              <a:rPr sz="1400" b="0">
                <a:solidFill>
                  <a:srgbClr val="4A382B"/>
                </a:solidFill>
                <a:latin typeface="Calibri"/>
              </a:rPr>
              <a:t/>
            </a:r>
          </a:p>
        </p:txBody>
      </p:sp>
      <p:sp>
        <p:nvSpPr>
          <p:cNvPr id="24" name="Oval 23"/>
          <p:cNvSpPr/>
          <p:nvPr/>
        </p:nvSpPr>
        <p:spPr>
          <a:xfrm>
            <a:off x="8156448" y="1792224"/>
            <a:ext cx="347472" cy="347472"/>
          </a:xfrm>
          <a:prstGeom prst="ellipse">
            <a:avLst/>
          </a:prstGeom>
          <a:solidFill>
            <a:srgbClr val="C88F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FAF5EE"/>
                </a:solidFill>
                <a:latin typeface="Calibri"/>
              </a:rPr>
              <a:t>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470648" y="2240280"/>
            <a:ext cx="1719072" cy="60350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250" b="1" i="0">
                <a:solidFill>
                  <a:srgbClr val="2A1D14"/>
                </a:solidFill>
                <a:latin typeface="Calibri"/>
              </a:rPr>
              <a:t>Transaksi</a:t>
            </a:r>
          </a:p>
          <a:p>
            <a:pPr algn="ctr">
              <a:lnSpc>
                <a:spcPct val="110000"/>
              </a:lnSpc>
            </a:pPr>
            <a:r>
              <a:rPr sz="1250" b="1" i="0">
                <a:solidFill>
                  <a:srgbClr val="2A1D14"/>
                </a:solidFill>
                <a:latin typeface="Calibri"/>
              </a:rPr>
              <a:t>disimpan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452360" y="2880360"/>
            <a:ext cx="1755648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950" b="0" i="0">
                <a:solidFill>
                  <a:srgbClr val="8B7361"/>
                </a:solidFill>
                <a:latin typeface="Calibri"/>
              </a:rPr>
              <a:t>Tercatat siapa kasirnya dan kapan</a:t>
            </a:r>
          </a:p>
        </p:txBody>
      </p:sp>
      <p:cxnSp>
        <p:nvCxnSpPr>
          <p:cNvPr id="27" name="Connector 26"/>
          <p:cNvCxnSpPr/>
          <p:nvPr/>
        </p:nvCxnSpPr>
        <p:spPr>
          <a:xfrm>
            <a:off x="9336024" y="2674620"/>
            <a:ext cx="155448" cy="0"/>
          </a:xfrm>
          <a:prstGeom prst="line">
            <a:avLst/>
          </a:prstGeom>
          <a:ln w="25400">
            <a:solidFill>
              <a:srgbClr val="C88F7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Rounded Rectangle 27"/>
          <p:cNvSpPr/>
          <p:nvPr/>
        </p:nvSpPr>
        <p:spPr>
          <a:xfrm>
            <a:off x="9509760" y="1965960"/>
            <a:ext cx="1975104" cy="1417320"/>
          </a:xfrm>
          <a:prstGeom prst="roundRect">
            <a:avLst/>
          </a:prstGeom>
          <a:solidFill>
            <a:srgbClr val="FFFDF9"/>
          </a:solidFill>
          <a:ln w="15875">
            <a:solidFill>
              <a:srgbClr val="C88F7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lnSpc>
                <a:spcPct val="100000"/>
              </a:lnSpc>
            </a:pPr>
            <a:r>
              <a:rPr sz="1400" b="0">
                <a:solidFill>
                  <a:srgbClr val="4A382B"/>
                </a:solidFill>
                <a:latin typeface="Calibri"/>
              </a:rPr>
              <a:t/>
            </a:r>
          </a:p>
        </p:txBody>
      </p:sp>
      <p:sp>
        <p:nvSpPr>
          <p:cNvPr id="29" name="Oval 28"/>
          <p:cNvSpPr/>
          <p:nvPr/>
        </p:nvSpPr>
        <p:spPr>
          <a:xfrm>
            <a:off x="10323576" y="1792224"/>
            <a:ext cx="347472" cy="347472"/>
          </a:xfrm>
          <a:prstGeom prst="ellipse">
            <a:avLst/>
          </a:prstGeom>
          <a:solidFill>
            <a:srgbClr val="C88F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FAF5EE"/>
                </a:solidFill>
                <a:latin typeface="Calibri"/>
              </a:rPr>
              <a:t>5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637776" y="2240280"/>
            <a:ext cx="1719072" cy="60350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250" b="1" i="0">
                <a:solidFill>
                  <a:srgbClr val="2A1D14"/>
                </a:solidFill>
                <a:latin typeface="Calibri"/>
              </a:rPr>
              <a:t>Saldo poin</a:t>
            </a:r>
          </a:p>
          <a:p>
            <a:pPr algn="ctr">
              <a:lnSpc>
                <a:spcPct val="110000"/>
              </a:lnSpc>
            </a:pPr>
            <a:r>
              <a:rPr sz="1250" b="1" i="0">
                <a:solidFill>
                  <a:srgbClr val="2A1D14"/>
                </a:solidFill>
                <a:latin typeface="Calibri"/>
              </a:rPr>
              <a:t>bertambah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619488" y="2880360"/>
            <a:ext cx="1755648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950" b="0" i="0">
                <a:solidFill>
                  <a:srgbClr val="8B7361"/>
                </a:solidFill>
                <a:latin typeface="Calibri"/>
              </a:rPr>
              <a:t>Baris baru masuk ke buku besar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841248" y="3794760"/>
            <a:ext cx="4937760" cy="1143000"/>
          </a:xfrm>
          <a:prstGeom prst="roundRect">
            <a:avLst/>
          </a:prstGeom>
          <a:solidFill>
            <a:srgbClr val="FAF5EE"/>
          </a:solidFill>
          <a:ln w="15875">
            <a:solidFill>
              <a:srgbClr val="839A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lnSpc>
                <a:spcPct val="100000"/>
              </a:lnSpc>
            </a:pPr>
            <a:r>
              <a:rPr sz="1400" b="0">
                <a:solidFill>
                  <a:srgbClr val="4A382B"/>
                </a:solidFill>
                <a:latin typeface="Calibri"/>
              </a:rPr>
              <a:t/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78992" y="3959352"/>
            <a:ext cx="4480560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839A66"/>
                </a:solidFill>
                <a:latin typeface="Calibri"/>
              </a:rPr>
              <a:t>Kalau pelanggannya belum terdaftar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78992" y="4297680"/>
            <a:ext cx="448056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4A382B"/>
                </a:solidFill>
                <a:latin typeface="Calibri"/>
              </a:rPr>
              <a:t>Kasir dapat menambahkannya lebih dulu lewat halaman Pelanggan. Nomor WhatsApp langsung dirapikan otomatis agar seragam.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6053328" y="3794760"/>
            <a:ext cx="5303520" cy="1143000"/>
          </a:xfrm>
          <a:prstGeom prst="roundRect">
            <a:avLst/>
          </a:prstGeom>
          <a:solidFill>
            <a:srgbClr val="FAF5EE"/>
          </a:solidFill>
          <a:ln w="15875">
            <a:solidFill>
              <a:srgbClr val="D9CC4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lnSpc>
                <a:spcPct val="100000"/>
              </a:lnSpc>
            </a:pPr>
            <a:r>
              <a:rPr sz="1400" b="0">
                <a:solidFill>
                  <a:srgbClr val="4A382B"/>
                </a:solidFill>
                <a:latin typeface="Calibri"/>
              </a:rPr>
              <a:t/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291072" y="3959352"/>
            <a:ext cx="4846320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9B9824"/>
                </a:solidFill>
                <a:latin typeface="Calibri"/>
              </a:rPr>
              <a:t>Yang dicatat di buku besar poin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291072" y="4297680"/>
            <a:ext cx="48463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4A382B"/>
                </a:solidFill>
                <a:latin typeface="Calibri"/>
              </a:rPr>
              <a:t>Poin yang diperoleh, kapan kedaluwarsa, dan saldo setelahnya. Barisnya tidak dapat diubah atau dihapus dari dalam aplikasi.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41248" y="5230368"/>
            <a:ext cx="105156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0" i="1">
                <a:solidFill>
                  <a:srgbClr val="8B7361"/>
                </a:solidFill>
                <a:latin typeface="Calibri"/>
              </a:rPr>
              <a:t>Contoh: belanja Rp 100.000 memperoleh 5 poin. Belanja Rp 50.000 memperoleh 2 poin, karena pembulatan ke bawah.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5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40080" y="566928"/>
            <a:ext cx="68580" cy="475488"/>
          </a:xfrm>
          <a:prstGeom prst="rect">
            <a:avLst/>
          </a:prstGeom>
          <a:solidFill>
            <a:srgbClr val="C88F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41248" y="530352"/>
            <a:ext cx="96012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 i="0">
                <a:solidFill>
                  <a:srgbClr val="2A1D14"/>
                </a:solidFill>
                <a:latin typeface="Calibri"/>
              </a:rPr>
              <a:t>Siklus Hidup Poin Pelanggan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1248" y="950976"/>
            <a:ext cx="10607040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 i="0">
                <a:solidFill>
                  <a:srgbClr val="8B7361"/>
                </a:solidFill>
                <a:latin typeface="Calibri"/>
              </a:rPr>
              <a:t>Bagaimana poin masuk, dipakai, dan akhirnya hangus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55680" y="6327648"/>
            <a:ext cx="5486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 i="0">
                <a:solidFill>
                  <a:srgbClr val="8B7361"/>
                </a:solidFill>
                <a:latin typeface="Calibri"/>
              </a:rPr>
              <a:t>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6327648"/>
            <a:ext cx="4572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0">
                <a:solidFill>
                  <a:srgbClr val="8B7361"/>
                </a:solidFill>
                <a:latin typeface="Calibri"/>
              </a:rPr>
              <a:t>Kataloji CRM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41248" y="1828800"/>
            <a:ext cx="4114800" cy="1170432"/>
          </a:xfrm>
          <a:prstGeom prst="roundRect">
            <a:avLst/>
          </a:prstGeom>
          <a:solidFill>
            <a:srgbClr val="FFFDF9"/>
          </a:solidFill>
          <a:ln w="19050">
            <a:solidFill>
              <a:srgbClr val="839A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lnSpc>
                <a:spcPct val="100000"/>
              </a:lnSpc>
            </a:pPr>
            <a:r>
              <a:rPr sz="1400" b="0">
                <a:solidFill>
                  <a:srgbClr val="4A382B"/>
                </a:solidFill>
                <a:latin typeface="Calibri"/>
              </a:rPr>
              <a:t/>
            </a:r>
          </a:p>
        </p:txBody>
      </p:sp>
      <p:sp>
        <p:nvSpPr>
          <p:cNvPr id="9" name="Oval 8"/>
          <p:cNvSpPr/>
          <p:nvPr/>
        </p:nvSpPr>
        <p:spPr>
          <a:xfrm>
            <a:off x="1078992" y="2139696"/>
            <a:ext cx="548640" cy="548640"/>
          </a:xfrm>
          <a:prstGeom prst="ellipse">
            <a:avLst/>
          </a:prstGeom>
          <a:solidFill>
            <a:srgbClr val="839A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lnSpc>
                <a:spcPct val="100000"/>
              </a:lnSpc>
            </a:pPr>
            <a:r>
              <a:rPr sz="1600" b="1">
                <a:solidFill>
                  <a:srgbClr val="FAF5EE"/>
                </a:solidFill>
                <a:latin typeface="Calibri"/>
              </a:rPr>
              <a:t>B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792224" y="2048256"/>
            <a:ext cx="29260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2A1D14"/>
                </a:solidFill>
                <a:latin typeface="Calibri"/>
              </a:rPr>
              <a:t>Belanja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92224" y="2432304"/>
            <a:ext cx="292608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 i="0">
                <a:solidFill>
                  <a:srgbClr val="4A382B"/>
                </a:solidFill>
                <a:latin typeface="Calibri"/>
              </a:rPr>
              <a:t>Poin masuk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2898648" y="3017520"/>
            <a:ext cx="0" cy="201168"/>
          </a:xfrm>
          <a:prstGeom prst="line">
            <a:avLst/>
          </a:prstGeom>
          <a:ln w="25400">
            <a:solidFill>
              <a:srgbClr val="839A66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ounded Rectangle 12"/>
          <p:cNvSpPr/>
          <p:nvPr/>
        </p:nvSpPr>
        <p:spPr>
          <a:xfrm>
            <a:off x="841248" y="3236976"/>
            <a:ext cx="4114800" cy="1170432"/>
          </a:xfrm>
          <a:prstGeom prst="roundRect">
            <a:avLst/>
          </a:prstGeom>
          <a:solidFill>
            <a:srgbClr val="FFFDF9"/>
          </a:solidFill>
          <a:ln w="19050">
            <a:solidFill>
              <a:srgbClr val="C88F7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lnSpc>
                <a:spcPct val="100000"/>
              </a:lnSpc>
            </a:pPr>
            <a:r>
              <a:rPr sz="1400" b="0">
                <a:solidFill>
                  <a:srgbClr val="4A382B"/>
                </a:solidFill>
                <a:latin typeface="Calibri"/>
              </a:rPr>
              <a:t/>
            </a:r>
          </a:p>
        </p:txBody>
      </p:sp>
      <p:sp>
        <p:nvSpPr>
          <p:cNvPr id="14" name="Oval 13"/>
          <p:cNvSpPr/>
          <p:nvPr/>
        </p:nvSpPr>
        <p:spPr>
          <a:xfrm>
            <a:off x="1078992" y="3547872"/>
            <a:ext cx="548640" cy="548640"/>
          </a:xfrm>
          <a:prstGeom prst="ellipse">
            <a:avLst/>
          </a:prstGeom>
          <a:solidFill>
            <a:srgbClr val="C88F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lnSpc>
                <a:spcPct val="100000"/>
              </a:lnSpc>
            </a:pPr>
            <a:r>
              <a:rPr sz="1600" b="1">
                <a:solidFill>
                  <a:srgbClr val="FAF5EE"/>
                </a:solidFill>
                <a:latin typeface="Calibri"/>
              </a:rPr>
              <a:t>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792224" y="3456432"/>
            <a:ext cx="29260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2A1D14"/>
                </a:solidFill>
                <a:latin typeface="Calibri"/>
              </a:rPr>
              <a:t>Tukar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792224" y="3840480"/>
            <a:ext cx="292608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 i="0">
                <a:solidFill>
                  <a:srgbClr val="4A382B"/>
                </a:solidFill>
                <a:latin typeface="Calibri"/>
              </a:rPr>
              <a:t>Poin dipakai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2898648" y="4425696"/>
            <a:ext cx="0" cy="201168"/>
          </a:xfrm>
          <a:prstGeom prst="line">
            <a:avLst/>
          </a:prstGeom>
          <a:ln w="25400">
            <a:solidFill>
              <a:srgbClr val="C88F7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Rounded Rectangle 17"/>
          <p:cNvSpPr/>
          <p:nvPr/>
        </p:nvSpPr>
        <p:spPr>
          <a:xfrm>
            <a:off x="841248" y="4645152"/>
            <a:ext cx="4114800" cy="1170432"/>
          </a:xfrm>
          <a:prstGeom prst="roundRect">
            <a:avLst/>
          </a:prstGeom>
          <a:solidFill>
            <a:srgbClr val="FFFDF9"/>
          </a:solidFill>
          <a:ln w="19050">
            <a:solidFill>
              <a:srgbClr val="B4553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lnSpc>
                <a:spcPct val="100000"/>
              </a:lnSpc>
            </a:pPr>
            <a:r>
              <a:rPr sz="1400" b="0">
                <a:solidFill>
                  <a:srgbClr val="4A382B"/>
                </a:solidFill>
                <a:latin typeface="Calibri"/>
              </a:rPr>
              <a:t/>
            </a:r>
          </a:p>
        </p:txBody>
      </p:sp>
      <p:sp>
        <p:nvSpPr>
          <p:cNvPr id="19" name="Oval 18"/>
          <p:cNvSpPr/>
          <p:nvPr/>
        </p:nvSpPr>
        <p:spPr>
          <a:xfrm>
            <a:off x="1078992" y="4956048"/>
            <a:ext cx="548640" cy="548640"/>
          </a:xfrm>
          <a:prstGeom prst="ellipse">
            <a:avLst/>
          </a:prstGeom>
          <a:solidFill>
            <a:srgbClr val="B455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lnSpc>
                <a:spcPct val="100000"/>
              </a:lnSpc>
            </a:pPr>
            <a:r>
              <a:rPr sz="1600" b="1">
                <a:solidFill>
                  <a:srgbClr val="FAF5EE"/>
                </a:solidFill>
                <a:latin typeface="Calibri"/>
              </a:rPr>
              <a:t>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792224" y="4864608"/>
            <a:ext cx="29260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2A1D14"/>
                </a:solidFill>
                <a:latin typeface="Calibri"/>
              </a:rPr>
              <a:t>Tidak dipakai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792224" y="5248656"/>
            <a:ext cx="292608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 i="0">
                <a:solidFill>
                  <a:srgbClr val="4A382B"/>
                </a:solidFill>
                <a:latin typeface="Calibri"/>
              </a:rPr>
              <a:t>Poin hangus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230368" y="1828800"/>
            <a:ext cx="6126480" cy="1170432"/>
          </a:xfrm>
          <a:prstGeom prst="roundRect">
            <a:avLst/>
          </a:prstGeom>
          <a:solidFill>
            <a:srgbClr val="FFFDF9"/>
          </a:solidFill>
          <a:ln w="12700">
            <a:solidFill>
              <a:srgbClr val="E4DC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lnSpc>
                <a:spcPct val="100000"/>
              </a:lnSpc>
            </a:pPr>
            <a:r>
              <a:rPr sz="1400" b="0">
                <a:solidFill>
                  <a:srgbClr val="4A382B"/>
                </a:solidFill>
                <a:latin typeface="Calibri"/>
              </a:rPr>
              <a:t/>
            </a:r>
          </a:p>
        </p:txBody>
      </p:sp>
      <p:sp>
        <p:nvSpPr>
          <p:cNvPr id="23" name="Rectangle 22"/>
          <p:cNvSpPr/>
          <p:nvPr/>
        </p:nvSpPr>
        <p:spPr>
          <a:xfrm>
            <a:off x="5230368" y="1828800"/>
            <a:ext cx="54864" cy="1170432"/>
          </a:xfrm>
          <a:prstGeom prst="rect">
            <a:avLst/>
          </a:prstGeom>
          <a:solidFill>
            <a:srgbClr val="839A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486400" y="2011680"/>
            <a:ext cx="5669280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2A1D14"/>
                </a:solidFill>
                <a:latin typeface="Calibri"/>
              </a:rPr>
              <a:t>Poin masuk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486400" y="2359152"/>
            <a:ext cx="5669280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 b="0" i="0">
                <a:solidFill>
                  <a:srgbClr val="4A382B"/>
                </a:solidFill>
                <a:latin typeface="Calibri"/>
              </a:rPr>
              <a:t>Setiap belanja menambah saldo. Saldo hanya dihitung dari baris poin masuk dan koreksi manual, bukan dari seluruh riwayat.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230368" y="3236976"/>
            <a:ext cx="6126480" cy="1170432"/>
          </a:xfrm>
          <a:prstGeom prst="roundRect">
            <a:avLst/>
          </a:prstGeom>
          <a:solidFill>
            <a:srgbClr val="FFFDF9"/>
          </a:solidFill>
          <a:ln w="12700">
            <a:solidFill>
              <a:srgbClr val="E4DC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lnSpc>
                <a:spcPct val="100000"/>
              </a:lnSpc>
            </a:pPr>
            <a:r>
              <a:rPr sz="1400" b="0">
                <a:solidFill>
                  <a:srgbClr val="4A382B"/>
                </a:solidFill>
                <a:latin typeface="Calibri"/>
              </a:rPr>
              <a:t/>
            </a:r>
          </a:p>
        </p:txBody>
      </p:sp>
      <p:sp>
        <p:nvSpPr>
          <p:cNvPr id="27" name="Rectangle 26"/>
          <p:cNvSpPr/>
          <p:nvPr/>
        </p:nvSpPr>
        <p:spPr>
          <a:xfrm>
            <a:off x="5230368" y="3236976"/>
            <a:ext cx="54864" cy="1170432"/>
          </a:xfrm>
          <a:prstGeom prst="rect">
            <a:avLst/>
          </a:prstGeom>
          <a:solidFill>
            <a:srgbClr val="C88F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486400" y="3419856"/>
            <a:ext cx="5669280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2A1D14"/>
                </a:solidFill>
                <a:latin typeface="Calibri"/>
              </a:rPr>
              <a:t>Poin dipakai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486400" y="3767328"/>
            <a:ext cx="5669280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 b="0" i="0">
                <a:solidFill>
                  <a:srgbClr val="4A382B"/>
                </a:solidFill>
                <a:latin typeface="Calibri"/>
              </a:rPr>
              <a:t>Minimal 5 poin untuk menukar. 1 poin bernilai Rp 1.000 potongan. Saldo yang kurang akan ditolak dengan pesan yang jelas.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5230368" y="4645152"/>
            <a:ext cx="6126480" cy="1170432"/>
          </a:xfrm>
          <a:prstGeom prst="roundRect">
            <a:avLst/>
          </a:prstGeom>
          <a:solidFill>
            <a:srgbClr val="FFFDF9"/>
          </a:solidFill>
          <a:ln w="12700">
            <a:solidFill>
              <a:srgbClr val="E4DC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lnSpc>
                <a:spcPct val="100000"/>
              </a:lnSpc>
            </a:pPr>
            <a:r>
              <a:rPr sz="1400" b="0">
                <a:solidFill>
                  <a:srgbClr val="4A382B"/>
                </a:solidFill>
                <a:latin typeface="Calibri"/>
              </a:rPr>
              <a:t/>
            </a:r>
          </a:p>
        </p:txBody>
      </p:sp>
      <p:sp>
        <p:nvSpPr>
          <p:cNvPr id="31" name="Rectangle 30"/>
          <p:cNvSpPr/>
          <p:nvPr/>
        </p:nvSpPr>
        <p:spPr>
          <a:xfrm>
            <a:off x="5230368" y="4645152"/>
            <a:ext cx="54864" cy="1170432"/>
          </a:xfrm>
          <a:prstGeom prst="rect">
            <a:avLst/>
          </a:prstGeom>
          <a:solidFill>
            <a:srgbClr val="B455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486400" y="4828032"/>
            <a:ext cx="5669280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2A1D14"/>
                </a:solidFill>
                <a:latin typeface="Calibri"/>
              </a:rPr>
              <a:t>Poin hangus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486400" y="5175504"/>
            <a:ext cx="5669280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 b="0" i="0">
                <a:solidFill>
                  <a:srgbClr val="4A382B"/>
                </a:solidFill>
                <a:latin typeface="Calibri"/>
              </a:rPr>
              <a:t>Poin yang tidak dipakai dalam batas waktu akan hangus dengan sendirinya. Lonceng notifikasi mengingatkan sebelum hangus.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841248" y="5440680"/>
            <a:ext cx="10515600" cy="731520"/>
          </a:xfrm>
          <a:prstGeom prst="roundRect">
            <a:avLst/>
          </a:prstGeom>
          <a:solidFill>
            <a:srgbClr val="FAF5EE"/>
          </a:solidFill>
          <a:ln w="15875">
            <a:solidFill>
              <a:srgbClr val="D9CC4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lnSpc>
                <a:spcPct val="130000"/>
              </a:lnSpc>
            </a:pPr>
            <a:r>
              <a:rPr sz="1150" b="0">
                <a:solidFill>
                  <a:srgbClr val="4A382B"/>
                </a:solidFill>
                <a:latin typeface="Calibri"/>
              </a:rPr>
              <a:t>Poin yang sudah masuk tidak dapat dihapus atau diubah dari dalam aplikasi, termasuk oleh admin. Kalau ada yang perlu dikoreksi, sistem mencatat baris koreksi baru, sehingga jejaknya tetap terbaca.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5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40080" y="566928"/>
            <a:ext cx="68580" cy="475488"/>
          </a:xfrm>
          <a:prstGeom prst="rect">
            <a:avLst/>
          </a:prstGeom>
          <a:solidFill>
            <a:srgbClr val="C88F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41248" y="530352"/>
            <a:ext cx="96012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 i="0">
                <a:solidFill>
                  <a:srgbClr val="2A1D14"/>
                </a:solidFill>
                <a:latin typeface="Calibri"/>
              </a:rPr>
              <a:t>Alur Pemasaran lewat WhatsApp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1248" y="950976"/>
            <a:ext cx="10607040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 i="0">
                <a:solidFill>
                  <a:srgbClr val="8B7361"/>
                </a:solidFill>
                <a:latin typeface="Calibri"/>
              </a:rPr>
              <a:t>Menghubungi pelanggan tanpa biaya layanan pesan berbayar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55680" y="6327648"/>
            <a:ext cx="5486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 i="0">
                <a:solidFill>
                  <a:srgbClr val="8B7361"/>
                </a:solidFill>
                <a:latin typeface="Calibri"/>
              </a:rPr>
              <a:t>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6327648"/>
            <a:ext cx="4572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0">
                <a:solidFill>
                  <a:srgbClr val="8B7361"/>
                </a:solidFill>
                <a:latin typeface="Calibri"/>
              </a:rPr>
              <a:t>Kataloji CRM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41248" y="1828800"/>
            <a:ext cx="5943600" cy="786384"/>
          </a:xfrm>
          <a:prstGeom prst="roundRect">
            <a:avLst/>
          </a:prstGeom>
          <a:solidFill>
            <a:srgbClr val="FFFDF9"/>
          </a:solidFill>
          <a:ln w="12700">
            <a:solidFill>
              <a:srgbClr val="E4DC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lnSpc>
                <a:spcPct val="100000"/>
              </a:lnSpc>
            </a:pPr>
            <a:r>
              <a:rPr sz="1400" b="0">
                <a:solidFill>
                  <a:srgbClr val="4A382B"/>
                </a:solidFill>
                <a:latin typeface="Calibri"/>
              </a:rPr>
              <a:t/>
            </a:r>
          </a:p>
        </p:txBody>
      </p:sp>
      <p:sp>
        <p:nvSpPr>
          <p:cNvPr id="9" name="Oval 8"/>
          <p:cNvSpPr/>
          <p:nvPr/>
        </p:nvSpPr>
        <p:spPr>
          <a:xfrm>
            <a:off x="1024128" y="2029968"/>
            <a:ext cx="384048" cy="384048"/>
          </a:xfrm>
          <a:prstGeom prst="ellipse">
            <a:avLst/>
          </a:prstGeom>
          <a:solidFill>
            <a:srgbClr val="C88F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FAF5EE"/>
                </a:solidFill>
                <a:latin typeface="Calibri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572768" y="1956816"/>
            <a:ext cx="5029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 i="0">
                <a:solidFill>
                  <a:srgbClr val="2A1D14"/>
                </a:solidFill>
                <a:latin typeface="Calibri"/>
              </a:rPr>
              <a:t>Pilih sasaran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72768" y="2249424"/>
            <a:ext cx="5029200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0">
                <a:solidFill>
                  <a:srgbClr val="4A382B"/>
                </a:solidFill>
                <a:latin typeface="Calibri"/>
              </a:rPr>
              <a:t>Menentukan kelompok pelanggan yang ingin dihubungi.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3813048" y="2624328"/>
            <a:ext cx="0" cy="128016"/>
          </a:xfrm>
          <a:prstGeom prst="line">
            <a:avLst/>
          </a:prstGeom>
          <a:ln w="25400">
            <a:solidFill>
              <a:srgbClr val="C88F7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ounded Rectangle 12"/>
          <p:cNvSpPr/>
          <p:nvPr/>
        </p:nvSpPr>
        <p:spPr>
          <a:xfrm>
            <a:off x="841248" y="2770632"/>
            <a:ext cx="5943600" cy="786384"/>
          </a:xfrm>
          <a:prstGeom prst="roundRect">
            <a:avLst/>
          </a:prstGeom>
          <a:solidFill>
            <a:srgbClr val="FFFDF9"/>
          </a:solidFill>
          <a:ln w="12700">
            <a:solidFill>
              <a:srgbClr val="E4DC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lnSpc>
                <a:spcPct val="100000"/>
              </a:lnSpc>
            </a:pPr>
            <a:r>
              <a:rPr sz="1400" b="0">
                <a:solidFill>
                  <a:srgbClr val="4A382B"/>
                </a:solidFill>
                <a:latin typeface="Calibri"/>
              </a:rPr>
              <a:t/>
            </a:r>
          </a:p>
        </p:txBody>
      </p:sp>
      <p:sp>
        <p:nvSpPr>
          <p:cNvPr id="14" name="Oval 13"/>
          <p:cNvSpPr/>
          <p:nvPr/>
        </p:nvSpPr>
        <p:spPr>
          <a:xfrm>
            <a:off x="1024128" y="2971800"/>
            <a:ext cx="384048" cy="384048"/>
          </a:xfrm>
          <a:prstGeom prst="ellipse">
            <a:avLst/>
          </a:prstGeom>
          <a:solidFill>
            <a:srgbClr val="C88F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FAF5EE"/>
                </a:solidFill>
                <a:latin typeface="Calibri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572768" y="2898648"/>
            <a:ext cx="5029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 i="0">
                <a:solidFill>
                  <a:srgbClr val="2A1D14"/>
                </a:solidFill>
                <a:latin typeface="Calibri"/>
              </a:rPr>
              <a:t>Susun pesan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572768" y="3191256"/>
            <a:ext cx="5029200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0">
                <a:solidFill>
                  <a:srgbClr val="4A382B"/>
                </a:solidFill>
                <a:latin typeface="Calibri"/>
              </a:rPr>
              <a:t>Menulis pesan dengan sisipan nama dan poin pelanggan.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3813048" y="3566160"/>
            <a:ext cx="0" cy="128016"/>
          </a:xfrm>
          <a:prstGeom prst="line">
            <a:avLst/>
          </a:prstGeom>
          <a:ln w="25400">
            <a:solidFill>
              <a:srgbClr val="C88F7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Rounded Rectangle 17"/>
          <p:cNvSpPr/>
          <p:nvPr/>
        </p:nvSpPr>
        <p:spPr>
          <a:xfrm>
            <a:off x="841248" y="3712464"/>
            <a:ext cx="5943600" cy="786384"/>
          </a:xfrm>
          <a:prstGeom prst="roundRect">
            <a:avLst/>
          </a:prstGeom>
          <a:solidFill>
            <a:srgbClr val="FFFDF9"/>
          </a:solidFill>
          <a:ln w="12700">
            <a:solidFill>
              <a:srgbClr val="E4DC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lnSpc>
                <a:spcPct val="100000"/>
              </a:lnSpc>
            </a:pPr>
            <a:r>
              <a:rPr sz="1400" b="0">
                <a:solidFill>
                  <a:srgbClr val="4A382B"/>
                </a:solidFill>
                <a:latin typeface="Calibri"/>
              </a:rPr>
              <a:t/>
            </a:r>
          </a:p>
        </p:txBody>
      </p:sp>
      <p:sp>
        <p:nvSpPr>
          <p:cNvPr id="19" name="Oval 18"/>
          <p:cNvSpPr/>
          <p:nvPr/>
        </p:nvSpPr>
        <p:spPr>
          <a:xfrm>
            <a:off x="1024128" y="3913632"/>
            <a:ext cx="384048" cy="384048"/>
          </a:xfrm>
          <a:prstGeom prst="ellipse">
            <a:avLst/>
          </a:prstGeom>
          <a:solidFill>
            <a:srgbClr val="C88F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FAF5EE"/>
                </a:solidFill>
                <a:latin typeface="Calibri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572768" y="3840480"/>
            <a:ext cx="5029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 i="0">
                <a:solidFill>
                  <a:srgbClr val="2A1D14"/>
                </a:solidFill>
                <a:latin typeface="Calibri"/>
              </a:rPr>
              <a:t>Sistem menyiapkan daftar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572768" y="4133088"/>
            <a:ext cx="5029200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0">
                <a:solidFill>
                  <a:srgbClr val="4A382B"/>
                </a:solidFill>
                <a:latin typeface="Calibri"/>
              </a:rPr>
              <a:t>Menyusun daftar penerima beserta nomor WhatsApp-nya.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3813048" y="4507992"/>
            <a:ext cx="0" cy="128016"/>
          </a:xfrm>
          <a:prstGeom prst="line">
            <a:avLst/>
          </a:prstGeom>
          <a:ln w="25400">
            <a:solidFill>
              <a:srgbClr val="C88F7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Rounded Rectangle 22"/>
          <p:cNvSpPr/>
          <p:nvPr/>
        </p:nvSpPr>
        <p:spPr>
          <a:xfrm>
            <a:off x="841248" y="4654296"/>
            <a:ext cx="5943600" cy="786384"/>
          </a:xfrm>
          <a:prstGeom prst="roundRect">
            <a:avLst/>
          </a:prstGeom>
          <a:solidFill>
            <a:srgbClr val="FFFDF9"/>
          </a:solidFill>
          <a:ln w="12700">
            <a:solidFill>
              <a:srgbClr val="E4DC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lnSpc>
                <a:spcPct val="100000"/>
              </a:lnSpc>
            </a:pPr>
            <a:r>
              <a:rPr sz="1400" b="0">
                <a:solidFill>
                  <a:srgbClr val="4A382B"/>
                </a:solidFill>
                <a:latin typeface="Calibri"/>
              </a:rPr>
              <a:t/>
            </a:r>
          </a:p>
        </p:txBody>
      </p:sp>
      <p:sp>
        <p:nvSpPr>
          <p:cNvPr id="24" name="Oval 23"/>
          <p:cNvSpPr/>
          <p:nvPr/>
        </p:nvSpPr>
        <p:spPr>
          <a:xfrm>
            <a:off x="1024128" y="4855464"/>
            <a:ext cx="384048" cy="384048"/>
          </a:xfrm>
          <a:prstGeom prst="ellipse">
            <a:avLst/>
          </a:prstGeom>
          <a:solidFill>
            <a:srgbClr val="C88F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FAF5EE"/>
                </a:solidFill>
                <a:latin typeface="Calibri"/>
              </a:rPr>
              <a:t>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572768" y="4782312"/>
            <a:ext cx="5029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 i="0">
                <a:solidFill>
                  <a:srgbClr val="2A1D14"/>
                </a:solidFill>
                <a:latin typeface="Calibri"/>
              </a:rPr>
              <a:t>Kirim satu per satu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572768" y="5074920"/>
            <a:ext cx="5029200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0">
                <a:solidFill>
                  <a:srgbClr val="4A382B"/>
                </a:solidFill>
                <a:latin typeface="Calibri"/>
              </a:rPr>
              <a:t>Kasir mengirim lewat WhatsApp dari perangkatnya sendiri.</a:t>
            </a:r>
          </a:p>
        </p:txBody>
      </p:sp>
      <p:cxnSp>
        <p:nvCxnSpPr>
          <p:cNvPr id="27" name="Connector 26"/>
          <p:cNvCxnSpPr/>
          <p:nvPr/>
        </p:nvCxnSpPr>
        <p:spPr>
          <a:xfrm>
            <a:off x="3813048" y="5449824"/>
            <a:ext cx="0" cy="128016"/>
          </a:xfrm>
          <a:prstGeom prst="line">
            <a:avLst/>
          </a:prstGeom>
          <a:ln w="25400">
            <a:solidFill>
              <a:srgbClr val="C88F7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Rounded Rectangle 27"/>
          <p:cNvSpPr/>
          <p:nvPr/>
        </p:nvSpPr>
        <p:spPr>
          <a:xfrm>
            <a:off x="841248" y="5596128"/>
            <a:ext cx="5943600" cy="786384"/>
          </a:xfrm>
          <a:prstGeom prst="roundRect">
            <a:avLst/>
          </a:prstGeom>
          <a:solidFill>
            <a:srgbClr val="FFFDF9"/>
          </a:solidFill>
          <a:ln w="12700">
            <a:solidFill>
              <a:srgbClr val="E4DC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lnSpc>
                <a:spcPct val="100000"/>
              </a:lnSpc>
            </a:pPr>
            <a:r>
              <a:rPr sz="1400" b="0">
                <a:solidFill>
                  <a:srgbClr val="4A382B"/>
                </a:solidFill>
                <a:latin typeface="Calibri"/>
              </a:rPr>
              <a:t/>
            </a:r>
          </a:p>
        </p:txBody>
      </p:sp>
      <p:sp>
        <p:nvSpPr>
          <p:cNvPr id="29" name="Oval 28"/>
          <p:cNvSpPr/>
          <p:nvPr/>
        </p:nvSpPr>
        <p:spPr>
          <a:xfrm>
            <a:off x="1024128" y="5797296"/>
            <a:ext cx="384048" cy="384048"/>
          </a:xfrm>
          <a:prstGeom prst="ellipse">
            <a:avLst/>
          </a:prstGeom>
          <a:solidFill>
            <a:srgbClr val="C88F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FAF5EE"/>
                </a:solidFill>
                <a:latin typeface="Calibri"/>
              </a:rPr>
              <a:t>5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572768" y="5724144"/>
            <a:ext cx="5029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 i="0">
                <a:solidFill>
                  <a:srgbClr val="2A1D14"/>
                </a:solidFill>
                <a:latin typeface="Calibri"/>
              </a:rPr>
              <a:t>Ditandai terkirim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572768" y="6016752"/>
            <a:ext cx="5029200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0">
                <a:solidFill>
                  <a:srgbClr val="4A382B"/>
                </a:solidFill>
                <a:latin typeface="Calibri"/>
              </a:rPr>
              <a:t>Sistem mencatat siapa yang sudah dihubungi dan pesannya apa.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7059168" y="1828800"/>
            <a:ext cx="4297680" cy="1572768"/>
          </a:xfrm>
          <a:prstGeom prst="roundRect">
            <a:avLst/>
          </a:prstGeom>
          <a:solidFill>
            <a:srgbClr val="FAF5EE"/>
          </a:solidFill>
          <a:ln w="15875">
            <a:solidFill>
              <a:srgbClr val="839A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lnSpc>
                <a:spcPct val="100000"/>
              </a:lnSpc>
            </a:pPr>
            <a:r>
              <a:rPr sz="1400" b="0">
                <a:solidFill>
                  <a:srgbClr val="4A382B"/>
                </a:solidFill>
                <a:latin typeface="Calibri"/>
              </a:rPr>
              <a:t/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296912" y="1993392"/>
            <a:ext cx="3840480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 i="0">
                <a:solidFill>
                  <a:srgbClr val="839A66"/>
                </a:solidFill>
                <a:latin typeface="Calibri"/>
              </a:rPr>
              <a:t>Pelanggan tanpa nomor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296912" y="2340864"/>
            <a:ext cx="3840480" cy="9601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 b="0" i="0">
                <a:solidFill>
                  <a:srgbClr val="4A382B"/>
                </a:solidFill>
                <a:latin typeface="Calibri"/>
              </a:rPr>
              <a:t>Dipisahkan ke daftar tersendiri, bukan dihilangkan dari hitungan. Kasir perlu tahu berapa orang yang belum bisa dijangkau, karena itulah daftar yang perlu dilengkapi datanya.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7059168" y="3584448"/>
            <a:ext cx="4297680" cy="1572768"/>
          </a:xfrm>
          <a:prstGeom prst="roundRect">
            <a:avLst/>
          </a:prstGeom>
          <a:solidFill>
            <a:srgbClr val="FFFDF9"/>
          </a:solidFill>
          <a:ln w="12700">
            <a:solidFill>
              <a:srgbClr val="E4DC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lnSpc>
                <a:spcPct val="100000"/>
              </a:lnSpc>
            </a:pPr>
            <a:r>
              <a:rPr sz="1400" b="0">
                <a:solidFill>
                  <a:srgbClr val="4A382B"/>
                </a:solidFill>
                <a:latin typeface="Calibri"/>
              </a:rPr>
              <a:t/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296912" y="3749039"/>
            <a:ext cx="3840480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 i="0">
                <a:solidFill>
                  <a:srgbClr val="2A1D14"/>
                </a:solidFill>
                <a:latin typeface="Calibri"/>
              </a:rPr>
              <a:t>Kenapa tidak dikirim otomatis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296912" y="4096512"/>
            <a:ext cx="3840480" cy="9601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 b="0" i="0">
                <a:solidFill>
                  <a:srgbClr val="4A382B"/>
                </a:solidFill>
                <a:latin typeface="Calibri"/>
              </a:rPr>
              <a:t>Layanan pesan otomatis berbayar per pesan dan tidak sebanding untuk satu kedai. Karena itu aplikasi menyiapkan pesannya, lalu pengiriman dilakukan dari perangkat kasir.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5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40080" y="566928"/>
            <a:ext cx="68580" cy="475488"/>
          </a:xfrm>
          <a:prstGeom prst="rect">
            <a:avLst/>
          </a:prstGeom>
          <a:solidFill>
            <a:srgbClr val="C88F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41248" y="530352"/>
            <a:ext cx="96012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 i="0">
                <a:solidFill>
                  <a:srgbClr val="2A1D14"/>
                </a:solidFill>
                <a:latin typeface="Calibri"/>
              </a:rPr>
              <a:t>Peran Pengguna dan Hak Akses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1248" y="950976"/>
            <a:ext cx="10607040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 i="0">
                <a:solidFill>
                  <a:srgbClr val="8B7361"/>
                </a:solidFill>
                <a:latin typeface="Calibri"/>
              </a:rPr>
              <a:t>Setiap orang melihat menu yang sesuai pekerjaannya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55680" y="6327648"/>
            <a:ext cx="5486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 i="0">
                <a:solidFill>
                  <a:srgbClr val="8B7361"/>
                </a:solidFill>
                <a:latin typeface="Calibri"/>
              </a:rPr>
              <a:t>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6327648"/>
            <a:ext cx="4572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0">
                <a:solidFill>
                  <a:srgbClr val="8B7361"/>
                </a:solidFill>
                <a:latin typeface="Calibri"/>
              </a:rPr>
              <a:t>Kataloji CRM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41248" y="1572768"/>
            <a:ext cx="3465576" cy="4114800"/>
          </a:xfrm>
          <a:prstGeom prst="roundRect">
            <a:avLst/>
          </a:prstGeom>
          <a:solidFill>
            <a:srgbClr val="FFFDF9"/>
          </a:solidFill>
          <a:ln w="12700">
            <a:solidFill>
              <a:srgbClr val="E4DC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lnSpc>
                <a:spcPct val="100000"/>
              </a:lnSpc>
            </a:pPr>
            <a:r>
              <a:rPr sz="1400" b="0">
                <a:solidFill>
                  <a:srgbClr val="4A382B"/>
                </a:solidFill>
                <a:latin typeface="Calibri"/>
              </a:rPr>
              <a:t/>
            </a:r>
          </a:p>
        </p:txBody>
      </p:sp>
      <p:sp>
        <p:nvSpPr>
          <p:cNvPr id="9" name="Rectangle 8"/>
          <p:cNvSpPr/>
          <p:nvPr/>
        </p:nvSpPr>
        <p:spPr>
          <a:xfrm>
            <a:off x="841248" y="1572768"/>
            <a:ext cx="3465576" cy="868680"/>
          </a:xfrm>
          <a:prstGeom prst="rect">
            <a:avLst/>
          </a:prstGeom>
          <a:solidFill>
            <a:srgbClr val="C88F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78992" y="1682496"/>
            <a:ext cx="30175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1" i="0">
                <a:solidFill>
                  <a:srgbClr val="FAF5EE"/>
                </a:solidFill>
                <a:latin typeface="Calibri"/>
              </a:rPr>
              <a:t>Kasir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78992" y="2048256"/>
            <a:ext cx="3017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0">
                <a:solidFill>
                  <a:srgbClr val="FAF5EE"/>
                </a:solidFill>
                <a:latin typeface="Calibri"/>
              </a:rPr>
              <a:t>5 menu di sidebar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78992" y="2615184"/>
            <a:ext cx="3017520" cy="60350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 b="0" i="0">
                <a:solidFill>
                  <a:srgbClr val="8B7361"/>
                </a:solidFill>
                <a:latin typeface="Calibri"/>
              </a:rPr>
              <a:t>Mencatat transaksi dan menambah pelanggan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78992" y="3310128"/>
            <a:ext cx="3017520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0">
                <a:solidFill>
                  <a:srgbClr val="4A382B"/>
                </a:solidFill>
                <a:latin typeface="Calibri"/>
              </a:rPr>
              <a:t>•  Dashboard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78992" y="3552444"/>
            <a:ext cx="3017520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0">
                <a:solidFill>
                  <a:srgbClr val="4A382B"/>
                </a:solidFill>
                <a:latin typeface="Calibri"/>
              </a:rPr>
              <a:t>•  Transaksi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78992" y="3794760"/>
            <a:ext cx="3017520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0">
                <a:solidFill>
                  <a:srgbClr val="4A382B"/>
                </a:solidFill>
                <a:latin typeface="Calibri"/>
              </a:rPr>
              <a:t>•  Pelanggan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78992" y="4037076"/>
            <a:ext cx="3017520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0">
                <a:solidFill>
                  <a:srgbClr val="4A382B"/>
                </a:solidFill>
                <a:latin typeface="Calibri"/>
              </a:rPr>
              <a:t>•  Loyalitas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78992" y="4279392"/>
            <a:ext cx="3017520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0">
                <a:solidFill>
                  <a:srgbClr val="4A382B"/>
                </a:solidFill>
                <a:latin typeface="Calibri"/>
              </a:rPr>
              <a:t>•  Pengaturan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453128" y="1572768"/>
            <a:ext cx="3465576" cy="4114800"/>
          </a:xfrm>
          <a:prstGeom prst="roundRect">
            <a:avLst/>
          </a:prstGeom>
          <a:solidFill>
            <a:srgbClr val="FFFDF9"/>
          </a:solidFill>
          <a:ln w="12700">
            <a:solidFill>
              <a:srgbClr val="E4DC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lnSpc>
                <a:spcPct val="100000"/>
              </a:lnSpc>
            </a:pPr>
            <a:r>
              <a:rPr sz="1400" b="0">
                <a:solidFill>
                  <a:srgbClr val="4A382B"/>
                </a:solidFill>
                <a:latin typeface="Calibri"/>
              </a:rPr>
              <a:t/>
            </a:r>
          </a:p>
        </p:txBody>
      </p:sp>
      <p:sp>
        <p:nvSpPr>
          <p:cNvPr id="19" name="Rectangle 18"/>
          <p:cNvSpPr/>
          <p:nvPr/>
        </p:nvSpPr>
        <p:spPr>
          <a:xfrm>
            <a:off x="4453128" y="1572768"/>
            <a:ext cx="3465576" cy="868680"/>
          </a:xfrm>
          <a:prstGeom prst="rect">
            <a:avLst/>
          </a:prstGeom>
          <a:solidFill>
            <a:srgbClr val="839A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690872" y="1682496"/>
            <a:ext cx="30175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1" i="0">
                <a:solidFill>
                  <a:srgbClr val="FAF5EE"/>
                </a:solidFill>
                <a:latin typeface="Calibri"/>
              </a:rPr>
              <a:t>Manager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690872" y="2048256"/>
            <a:ext cx="3017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0">
                <a:solidFill>
                  <a:srgbClr val="FAF5EE"/>
                </a:solidFill>
                <a:latin typeface="Calibri"/>
              </a:rPr>
              <a:t>8 menu di sidebar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690872" y="2615184"/>
            <a:ext cx="3017520" cy="60350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 b="0" i="0">
                <a:solidFill>
                  <a:srgbClr val="8B7361"/>
                </a:solidFill>
                <a:latin typeface="Calibri"/>
              </a:rPr>
              <a:t>Mengelola data, tidak mengelola akun staf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690872" y="3310128"/>
            <a:ext cx="3017520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0">
                <a:solidFill>
                  <a:srgbClr val="4A382B"/>
                </a:solidFill>
                <a:latin typeface="Calibri"/>
              </a:rPr>
              <a:t>•  Dashboard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690872" y="3552444"/>
            <a:ext cx="3017520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0">
                <a:solidFill>
                  <a:srgbClr val="4A382B"/>
                </a:solidFill>
                <a:latin typeface="Calibri"/>
              </a:rPr>
              <a:t>•  Transaksi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690872" y="3794760"/>
            <a:ext cx="3017520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0">
                <a:solidFill>
                  <a:srgbClr val="4A382B"/>
                </a:solidFill>
                <a:latin typeface="Calibri"/>
              </a:rPr>
              <a:t>•  Pelanggan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690872" y="4037076"/>
            <a:ext cx="3017520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0">
                <a:solidFill>
                  <a:srgbClr val="4A382B"/>
                </a:solidFill>
                <a:latin typeface="Calibri"/>
              </a:rPr>
              <a:t>•  Loyalitas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690872" y="4279392"/>
            <a:ext cx="3017520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0">
                <a:solidFill>
                  <a:srgbClr val="4A382B"/>
                </a:solidFill>
                <a:latin typeface="Calibri"/>
              </a:rPr>
              <a:t>•  Pengaturan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690872" y="4521708"/>
            <a:ext cx="3017520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0">
                <a:solidFill>
                  <a:srgbClr val="4A382B"/>
                </a:solidFill>
                <a:latin typeface="Calibri"/>
              </a:rPr>
              <a:t>•  Rekap kasir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690872" y="4764024"/>
            <a:ext cx="3017520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0">
                <a:solidFill>
                  <a:srgbClr val="4A382B"/>
                </a:solidFill>
                <a:latin typeface="Calibri"/>
              </a:rPr>
              <a:t>•  Campaign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690872" y="5006340"/>
            <a:ext cx="3017520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0">
                <a:solidFill>
                  <a:srgbClr val="4A382B"/>
                </a:solidFill>
                <a:latin typeface="Calibri"/>
              </a:rPr>
              <a:t>•  Analitik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8065008" y="1572768"/>
            <a:ext cx="3465576" cy="4114800"/>
          </a:xfrm>
          <a:prstGeom prst="roundRect">
            <a:avLst/>
          </a:prstGeom>
          <a:solidFill>
            <a:srgbClr val="FFFDF9"/>
          </a:solidFill>
          <a:ln w="12700">
            <a:solidFill>
              <a:srgbClr val="E4DC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lnSpc>
                <a:spcPct val="100000"/>
              </a:lnSpc>
            </a:pPr>
            <a:r>
              <a:rPr sz="1400" b="0">
                <a:solidFill>
                  <a:srgbClr val="4A382B"/>
                </a:solidFill>
                <a:latin typeface="Calibri"/>
              </a:rPr>
              <a:t/>
            </a:r>
          </a:p>
        </p:txBody>
      </p:sp>
      <p:sp>
        <p:nvSpPr>
          <p:cNvPr id="32" name="Rectangle 31"/>
          <p:cNvSpPr/>
          <p:nvPr/>
        </p:nvSpPr>
        <p:spPr>
          <a:xfrm>
            <a:off x="8065008" y="1572768"/>
            <a:ext cx="3465576" cy="868680"/>
          </a:xfrm>
          <a:prstGeom prst="rect">
            <a:avLst/>
          </a:prstGeom>
          <a:solidFill>
            <a:srgbClr val="9B98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8302752" y="1682496"/>
            <a:ext cx="30175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1" i="0">
                <a:solidFill>
                  <a:srgbClr val="FAF5EE"/>
                </a:solidFill>
                <a:latin typeface="Calibri"/>
              </a:rPr>
              <a:t>Admin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302752" y="2048256"/>
            <a:ext cx="3017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0">
                <a:solidFill>
                  <a:srgbClr val="FAF5EE"/>
                </a:solidFill>
                <a:latin typeface="Calibri"/>
              </a:rPr>
              <a:t>9 menu di sidebar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302752" y="2615184"/>
            <a:ext cx="3017520" cy="60350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 b="0" i="0">
                <a:solidFill>
                  <a:srgbClr val="8B7361"/>
                </a:solidFill>
                <a:latin typeface="Calibri"/>
              </a:rPr>
              <a:t>Akses penuh termasuk mengelola akun staf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302752" y="3310128"/>
            <a:ext cx="3017520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0">
                <a:solidFill>
                  <a:srgbClr val="4A382B"/>
                </a:solidFill>
                <a:latin typeface="Calibri"/>
              </a:rPr>
              <a:t>•  Dashboard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302752" y="3552444"/>
            <a:ext cx="3017520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0">
                <a:solidFill>
                  <a:srgbClr val="4A382B"/>
                </a:solidFill>
                <a:latin typeface="Calibri"/>
              </a:rPr>
              <a:t>•  Transaksi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302752" y="3794760"/>
            <a:ext cx="3017520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0">
                <a:solidFill>
                  <a:srgbClr val="4A382B"/>
                </a:solidFill>
                <a:latin typeface="Calibri"/>
              </a:rPr>
              <a:t>•  Pelanggan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302752" y="4037076"/>
            <a:ext cx="3017520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0">
                <a:solidFill>
                  <a:srgbClr val="4A382B"/>
                </a:solidFill>
                <a:latin typeface="Calibri"/>
              </a:rPr>
              <a:t>•  Loyalitas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302752" y="4279392"/>
            <a:ext cx="3017520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0">
                <a:solidFill>
                  <a:srgbClr val="4A382B"/>
                </a:solidFill>
                <a:latin typeface="Calibri"/>
              </a:rPr>
              <a:t>•  Pengaturan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302752" y="4521708"/>
            <a:ext cx="3017520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0">
                <a:solidFill>
                  <a:srgbClr val="4A382B"/>
                </a:solidFill>
                <a:latin typeface="Calibri"/>
              </a:rPr>
              <a:t>•  Rekap kasir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302752" y="4764024"/>
            <a:ext cx="3017520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0">
                <a:solidFill>
                  <a:srgbClr val="4A382B"/>
                </a:solidFill>
                <a:latin typeface="Calibri"/>
              </a:rPr>
              <a:t>•  Campaign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302752" y="5006340"/>
            <a:ext cx="3017520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0">
                <a:solidFill>
                  <a:srgbClr val="4A382B"/>
                </a:solidFill>
                <a:latin typeface="Calibri"/>
              </a:rPr>
              <a:t>•  Analitik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302752" y="5248656"/>
            <a:ext cx="3017520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0">
                <a:solidFill>
                  <a:srgbClr val="4A382B"/>
                </a:solidFill>
                <a:latin typeface="Calibri"/>
              </a:rPr>
              <a:t>•  Staf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841248" y="5852160"/>
            <a:ext cx="10515600" cy="566928"/>
          </a:xfrm>
          <a:prstGeom prst="roundRect">
            <a:avLst/>
          </a:prstGeom>
          <a:solidFill>
            <a:srgbClr val="FAF5EE"/>
          </a:solidFill>
          <a:ln w="15875">
            <a:solidFill>
              <a:srgbClr val="B4553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4A382B"/>
                </a:solidFill>
                <a:latin typeface="Calibri"/>
              </a:rPr>
              <a:t>Menu yang disembunyikan bukan pengamanan. Setiap halaman memeriksa peran lebih dulu, jadi halaman terlarang tetap ditolak walau alamatnya diketik langsung.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5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40080" y="566928"/>
            <a:ext cx="68580" cy="475488"/>
          </a:xfrm>
          <a:prstGeom prst="rect">
            <a:avLst/>
          </a:prstGeom>
          <a:solidFill>
            <a:srgbClr val="C88F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41248" y="530352"/>
            <a:ext cx="96012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 i="0">
                <a:solidFill>
                  <a:srgbClr val="2A1D14"/>
                </a:solidFill>
                <a:latin typeface="Calibri"/>
              </a:rPr>
              <a:t>Cara Kerja Sistem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1248" y="950976"/>
            <a:ext cx="10607040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 i="0">
                <a:solidFill>
                  <a:srgbClr val="8B7361"/>
                </a:solidFill>
                <a:latin typeface="Calibri"/>
              </a:rPr>
              <a:t>Perjalanan satu permintaan dari perangkat sampai basis data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55680" y="6327648"/>
            <a:ext cx="5486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 i="0">
                <a:solidFill>
                  <a:srgbClr val="8B7361"/>
                </a:solidFill>
                <a:latin typeface="Calibri"/>
              </a:rPr>
              <a:t>7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6327648"/>
            <a:ext cx="4572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0">
                <a:solidFill>
                  <a:srgbClr val="8B7361"/>
                </a:solidFill>
                <a:latin typeface="Calibri"/>
              </a:rPr>
              <a:t>Kataloji CRM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463040" y="1691640"/>
            <a:ext cx="5120640" cy="731520"/>
          </a:xfrm>
          <a:prstGeom prst="roundRect">
            <a:avLst/>
          </a:prstGeom>
          <a:solidFill>
            <a:srgbClr val="FFFDF9"/>
          </a:solidFill>
          <a:ln w="19050">
            <a:solidFill>
              <a:srgbClr val="C88F7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lnSpc>
                <a:spcPct val="100000"/>
              </a:lnSpc>
            </a:pPr>
            <a:r>
              <a:rPr sz="1400" b="0">
                <a:solidFill>
                  <a:srgbClr val="4A382B"/>
                </a:solidFill>
                <a:latin typeface="Calibri"/>
              </a:rPr>
              <a:t/>
            </a:r>
          </a:p>
        </p:txBody>
      </p:sp>
      <p:sp>
        <p:nvSpPr>
          <p:cNvPr id="9" name="Oval 8"/>
          <p:cNvSpPr/>
          <p:nvPr/>
        </p:nvSpPr>
        <p:spPr>
          <a:xfrm>
            <a:off x="1664208" y="1865376"/>
            <a:ext cx="384048" cy="384048"/>
          </a:xfrm>
          <a:prstGeom prst="ellipse">
            <a:avLst/>
          </a:prstGeom>
          <a:solidFill>
            <a:srgbClr val="C88F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lnSpc>
                <a:spcPct val="100000"/>
              </a:lnSpc>
            </a:pPr>
            <a:r>
              <a:rPr sz="1150" b="1">
                <a:solidFill>
                  <a:srgbClr val="FAF5EE"/>
                </a:solidFill>
                <a:latin typeface="Calibri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231136" y="1819656"/>
            <a:ext cx="42062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2A1D14"/>
                </a:solidFill>
                <a:latin typeface="Calibri"/>
              </a:rPr>
              <a:t>Perangkat kasir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231136" y="2103120"/>
            <a:ext cx="42062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0">
                <a:solidFill>
                  <a:srgbClr val="8B7361"/>
                </a:solidFill>
                <a:latin typeface="Calibri"/>
              </a:rPr>
              <a:t>Peramban di iPad atau komputer kedai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4023360" y="2432304"/>
            <a:ext cx="0" cy="155448"/>
          </a:xfrm>
          <a:prstGeom prst="line">
            <a:avLst/>
          </a:prstGeom>
          <a:ln w="19050">
            <a:solidFill>
              <a:srgbClr val="8B7361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ounded Rectangle 12"/>
          <p:cNvSpPr/>
          <p:nvPr/>
        </p:nvSpPr>
        <p:spPr>
          <a:xfrm>
            <a:off x="1463040" y="2606040"/>
            <a:ext cx="5120640" cy="731520"/>
          </a:xfrm>
          <a:prstGeom prst="roundRect">
            <a:avLst/>
          </a:prstGeom>
          <a:solidFill>
            <a:srgbClr val="FFFDF9"/>
          </a:solidFill>
          <a:ln w="19050">
            <a:solidFill>
              <a:srgbClr val="839A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lnSpc>
                <a:spcPct val="100000"/>
              </a:lnSpc>
            </a:pPr>
            <a:r>
              <a:rPr sz="1400" b="0">
                <a:solidFill>
                  <a:srgbClr val="4A382B"/>
                </a:solidFill>
                <a:latin typeface="Calibri"/>
              </a:rPr>
              <a:t/>
            </a:r>
          </a:p>
        </p:txBody>
      </p:sp>
      <p:sp>
        <p:nvSpPr>
          <p:cNvPr id="14" name="Oval 13"/>
          <p:cNvSpPr/>
          <p:nvPr/>
        </p:nvSpPr>
        <p:spPr>
          <a:xfrm>
            <a:off x="1664208" y="2779776"/>
            <a:ext cx="384048" cy="384048"/>
          </a:xfrm>
          <a:prstGeom prst="ellipse">
            <a:avLst/>
          </a:prstGeom>
          <a:solidFill>
            <a:srgbClr val="839A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lnSpc>
                <a:spcPct val="100000"/>
              </a:lnSpc>
            </a:pPr>
            <a:r>
              <a:rPr sz="1150" b="1">
                <a:solidFill>
                  <a:srgbClr val="FAF5EE"/>
                </a:solidFill>
                <a:latin typeface="Calibri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231136" y="2734056"/>
            <a:ext cx="42062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2A1D14"/>
                </a:solidFill>
                <a:latin typeface="Calibri"/>
              </a:rPr>
              <a:t>Pemeriksaan sesi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231136" y="3017520"/>
            <a:ext cx="42062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0">
                <a:solidFill>
                  <a:srgbClr val="8B7361"/>
                </a:solidFill>
                <a:latin typeface="Calibri"/>
              </a:rPr>
              <a:t>Memastikan pengguna sudah masuk sebelum halaman dibuka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4023360" y="3346704"/>
            <a:ext cx="0" cy="155448"/>
          </a:xfrm>
          <a:prstGeom prst="line">
            <a:avLst/>
          </a:prstGeom>
          <a:ln w="19050">
            <a:solidFill>
              <a:srgbClr val="8B7361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Rounded Rectangle 17"/>
          <p:cNvSpPr/>
          <p:nvPr/>
        </p:nvSpPr>
        <p:spPr>
          <a:xfrm>
            <a:off x="1463040" y="3520440"/>
            <a:ext cx="5120640" cy="731520"/>
          </a:xfrm>
          <a:prstGeom prst="roundRect">
            <a:avLst/>
          </a:prstGeom>
          <a:solidFill>
            <a:srgbClr val="FFFDF9"/>
          </a:solidFill>
          <a:ln w="19050">
            <a:solidFill>
              <a:srgbClr val="D9CC4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lnSpc>
                <a:spcPct val="100000"/>
              </a:lnSpc>
            </a:pPr>
            <a:r>
              <a:rPr sz="1400" b="0">
                <a:solidFill>
                  <a:srgbClr val="4A382B"/>
                </a:solidFill>
                <a:latin typeface="Calibri"/>
              </a:rPr>
              <a:t/>
            </a:r>
          </a:p>
        </p:txBody>
      </p:sp>
      <p:sp>
        <p:nvSpPr>
          <p:cNvPr id="19" name="Oval 18"/>
          <p:cNvSpPr/>
          <p:nvPr/>
        </p:nvSpPr>
        <p:spPr>
          <a:xfrm>
            <a:off x="1664208" y="3694176"/>
            <a:ext cx="384048" cy="384048"/>
          </a:xfrm>
          <a:prstGeom prst="ellipse">
            <a:avLst/>
          </a:prstGeom>
          <a:solidFill>
            <a:srgbClr val="D9CC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lnSpc>
                <a:spcPct val="100000"/>
              </a:lnSpc>
            </a:pPr>
            <a:r>
              <a:rPr sz="1150" b="1">
                <a:solidFill>
                  <a:srgbClr val="FAF5EE"/>
                </a:solidFill>
                <a:latin typeface="Calibri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231136" y="3648456"/>
            <a:ext cx="42062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2A1D14"/>
                </a:solidFill>
                <a:latin typeface="Calibri"/>
              </a:rPr>
              <a:t>Halaman aplikasi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231136" y="3931920"/>
            <a:ext cx="42062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0">
                <a:solidFill>
                  <a:srgbClr val="8B7361"/>
                </a:solidFill>
                <a:latin typeface="Calibri"/>
              </a:rPr>
              <a:t>Menampilkan data sesuai peran yang sedang masuk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4023360" y="4261104"/>
            <a:ext cx="0" cy="155448"/>
          </a:xfrm>
          <a:prstGeom prst="line">
            <a:avLst/>
          </a:prstGeom>
          <a:ln w="19050">
            <a:solidFill>
              <a:srgbClr val="8B7361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Rounded Rectangle 22"/>
          <p:cNvSpPr/>
          <p:nvPr/>
        </p:nvSpPr>
        <p:spPr>
          <a:xfrm>
            <a:off x="1463040" y="4434840"/>
            <a:ext cx="5120640" cy="731520"/>
          </a:xfrm>
          <a:prstGeom prst="roundRect">
            <a:avLst/>
          </a:prstGeom>
          <a:solidFill>
            <a:srgbClr val="FFFDF9"/>
          </a:solidFill>
          <a:ln w="19050">
            <a:solidFill>
              <a:srgbClr val="9B982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lnSpc>
                <a:spcPct val="100000"/>
              </a:lnSpc>
            </a:pPr>
            <a:r>
              <a:rPr sz="1400" b="0">
                <a:solidFill>
                  <a:srgbClr val="4A382B"/>
                </a:solidFill>
                <a:latin typeface="Calibri"/>
              </a:rPr>
              <a:t/>
            </a:r>
          </a:p>
        </p:txBody>
      </p:sp>
      <p:sp>
        <p:nvSpPr>
          <p:cNvPr id="24" name="Oval 23"/>
          <p:cNvSpPr/>
          <p:nvPr/>
        </p:nvSpPr>
        <p:spPr>
          <a:xfrm>
            <a:off x="1664208" y="4608576"/>
            <a:ext cx="384048" cy="384048"/>
          </a:xfrm>
          <a:prstGeom prst="ellipse">
            <a:avLst/>
          </a:prstGeom>
          <a:solidFill>
            <a:srgbClr val="9B98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lnSpc>
                <a:spcPct val="100000"/>
              </a:lnSpc>
            </a:pPr>
            <a:r>
              <a:rPr sz="1150" b="1">
                <a:solidFill>
                  <a:srgbClr val="FAF5EE"/>
                </a:solidFill>
                <a:latin typeface="Calibri"/>
              </a:rPr>
              <a:t>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231136" y="4562856"/>
            <a:ext cx="42062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2A1D14"/>
                </a:solidFill>
                <a:latin typeface="Calibri"/>
              </a:rPr>
              <a:t>Aturan basis data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231136" y="4846320"/>
            <a:ext cx="42062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0">
                <a:solidFill>
                  <a:srgbClr val="8B7361"/>
                </a:solidFill>
                <a:latin typeface="Calibri"/>
              </a:rPr>
              <a:t>Membatasi baris mana yang boleh dibaca dan ditulis</a:t>
            </a:r>
          </a:p>
        </p:txBody>
      </p:sp>
      <p:cxnSp>
        <p:nvCxnSpPr>
          <p:cNvPr id="27" name="Connector 26"/>
          <p:cNvCxnSpPr/>
          <p:nvPr/>
        </p:nvCxnSpPr>
        <p:spPr>
          <a:xfrm>
            <a:off x="4023360" y="5175504"/>
            <a:ext cx="0" cy="155448"/>
          </a:xfrm>
          <a:prstGeom prst="line">
            <a:avLst/>
          </a:prstGeom>
          <a:ln w="19050">
            <a:solidFill>
              <a:srgbClr val="8B7361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Rounded Rectangle 27"/>
          <p:cNvSpPr/>
          <p:nvPr/>
        </p:nvSpPr>
        <p:spPr>
          <a:xfrm>
            <a:off x="1463040" y="5349240"/>
            <a:ext cx="5120640" cy="731520"/>
          </a:xfrm>
          <a:prstGeom prst="roundRect">
            <a:avLst/>
          </a:prstGeom>
          <a:solidFill>
            <a:srgbClr val="FFFDF9"/>
          </a:solidFill>
          <a:ln w="19050">
            <a:solidFill>
              <a:srgbClr val="2A1D1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lnSpc>
                <a:spcPct val="100000"/>
              </a:lnSpc>
            </a:pPr>
            <a:r>
              <a:rPr sz="1400" b="0">
                <a:solidFill>
                  <a:srgbClr val="4A382B"/>
                </a:solidFill>
                <a:latin typeface="Calibri"/>
              </a:rPr>
              <a:t/>
            </a:r>
          </a:p>
        </p:txBody>
      </p:sp>
      <p:sp>
        <p:nvSpPr>
          <p:cNvPr id="29" name="Oval 28"/>
          <p:cNvSpPr/>
          <p:nvPr/>
        </p:nvSpPr>
        <p:spPr>
          <a:xfrm>
            <a:off x="1664208" y="5522976"/>
            <a:ext cx="384048" cy="384048"/>
          </a:xfrm>
          <a:prstGeom prst="ellipse">
            <a:avLst/>
          </a:prstGeom>
          <a:solidFill>
            <a:srgbClr val="2A1D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lnSpc>
                <a:spcPct val="100000"/>
              </a:lnSpc>
            </a:pPr>
            <a:r>
              <a:rPr sz="1150" b="1">
                <a:solidFill>
                  <a:srgbClr val="FAF5EE"/>
                </a:solidFill>
                <a:latin typeface="Calibri"/>
              </a:rPr>
              <a:t>5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231136" y="5477256"/>
            <a:ext cx="42062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2A1D14"/>
                </a:solidFill>
                <a:latin typeface="Calibri"/>
              </a:rPr>
              <a:t>Basis data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231136" y="5760720"/>
            <a:ext cx="42062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0">
                <a:solidFill>
                  <a:srgbClr val="8B7361"/>
                </a:solidFill>
                <a:latin typeface="Calibri"/>
              </a:rPr>
              <a:t>Menyimpan pelanggan, transaksi, dan buku besar poin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6967728" y="1691640"/>
            <a:ext cx="4389120" cy="2194560"/>
          </a:xfrm>
          <a:prstGeom prst="roundRect">
            <a:avLst/>
          </a:prstGeom>
          <a:solidFill>
            <a:srgbClr val="FFFDF9"/>
          </a:solidFill>
          <a:ln w="12700">
            <a:solidFill>
              <a:srgbClr val="E4DC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lnSpc>
                <a:spcPct val="100000"/>
              </a:lnSpc>
            </a:pPr>
            <a:r>
              <a:rPr sz="1400" b="0">
                <a:solidFill>
                  <a:srgbClr val="4A382B"/>
                </a:solidFill>
                <a:latin typeface="Calibri"/>
              </a:rPr>
              <a:t/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223760" y="1874519"/>
            <a:ext cx="3931920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2A1D14"/>
                </a:solidFill>
                <a:latin typeface="Calibri"/>
              </a:rPr>
              <a:t>Keuntungan tata susun ini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223760" y="2240280"/>
            <a:ext cx="3931920" cy="1508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050" b="0" i="0">
                <a:solidFill>
                  <a:srgbClr val="4A382B"/>
                </a:solidFill>
                <a:latin typeface="Calibri"/>
              </a:rPr>
              <a:t>•  Aturan keamanan ditegakkan di sisi server, sehingga tidak dapat dilewati dari peramban.</a:t>
            </a:r>
          </a:p>
          <a:p>
            <a:pPr algn="l">
              <a:lnSpc>
                <a:spcPct val="130000"/>
              </a:lnSpc>
            </a:pPr>
            <a:r>
              <a:rPr sz="1050" b="0" i="0">
                <a:solidFill>
                  <a:srgbClr val="4A382B"/>
                </a:solidFill>
                <a:latin typeface="Calibri"/>
              </a:rPr>
              <a:t/>
            </a:r>
          </a:p>
          <a:p>
            <a:pPr algn="l">
              <a:lnSpc>
                <a:spcPct val="130000"/>
              </a:lnSpc>
            </a:pPr>
            <a:r>
              <a:rPr sz="1050" b="0" i="0">
                <a:solidFill>
                  <a:srgbClr val="4A382B"/>
                </a:solidFill>
                <a:latin typeface="Calibri"/>
              </a:rPr>
              <a:t>•  Satu permintaan hanya mengambil data yang diperlukan.</a:t>
            </a:r>
          </a:p>
          <a:p>
            <a:pPr algn="l">
              <a:lnSpc>
                <a:spcPct val="130000"/>
              </a:lnSpc>
            </a:pPr>
            <a:r>
              <a:rPr sz="1050" b="0" i="0">
                <a:solidFill>
                  <a:srgbClr val="4A382B"/>
                </a:solidFill>
                <a:latin typeface="Calibri"/>
              </a:rPr>
              <a:t/>
            </a:r>
          </a:p>
          <a:p>
            <a:pPr algn="l">
              <a:lnSpc>
                <a:spcPct val="130000"/>
              </a:lnSpc>
            </a:pPr>
            <a:r>
              <a:rPr sz="1050" b="0" i="0">
                <a:solidFill>
                  <a:srgbClr val="4A382B"/>
                </a:solidFill>
                <a:latin typeface="Calibri"/>
              </a:rPr>
              <a:t>•  Kunci rahasia tidak pernah dikirim ke perangkat pengguna.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6967728" y="4069080"/>
            <a:ext cx="4389120" cy="2194560"/>
          </a:xfrm>
          <a:prstGeom prst="roundRect">
            <a:avLst/>
          </a:prstGeom>
          <a:solidFill>
            <a:srgbClr val="FAF5EE"/>
          </a:solidFill>
          <a:ln w="15875">
            <a:solidFill>
              <a:srgbClr val="C88F7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lnSpc>
                <a:spcPct val="100000"/>
              </a:lnSpc>
            </a:pPr>
            <a:r>
              <a:rPr sz="1400" b="0">
                <a:solidFill>
                  <a:srgbClr val="4A382B"/>
                </a:solidFill>
                <a:latin typeface="Calibri"/>
              </a:rPr>
              <a:t/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223760" y="4251960"/>
            <a:ext cx="3931920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2A1D14"/>
                </a:solidFill>
                <a:latin typeface="Calibri"/>
              </a:rPr>
              <a:t>Perkakas yang dipakai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223760" y="4617720"/>
            <a:ext cx="3931920" cy="1508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050" b="0" i="0">
                <a:solidFill>
                  <a:srgbClr val="4A382B"/>
                </a:solidFill>
                <a:latin typeface="Calibri"/>
              </a:rPr>
              <a:t>•  Next.js 16 dan React untuk antarmuka</a:t>
            </a:r>
          </a:p>
          <a:p>
            <a:pPr algn="l">
              <a:lnSpc>
                <a:spcPct val="135000"/>
              </a:lnSpc>
            </a:pPr>
            <a:r>
              <a:rPr sz="1050" b="0" i="0">
                <a:solidFill>
                  <a:srgbClr val="4A382B"/>
                </a:solidFill>
                <a:latin typeface="Calibri"/>
              </a:rPr>
              <a:t>•  Tailwind CSS untuk tampilan</a:t>
            </a:r>
          </a:p>
          <a:p>
            <a:pPr algn="l">
              <a:lnSpc>
                <a:spcPct val="135000"/>
              </a:lnSpc>
            </a:pPr>
            <a:r>
              <a:rPr sz="1050" b="0" i="0">
                <a:solidFill>
                  <a:srgbClr val="4A382B"/>
                </a:solidFill>
                <a:latin typeface="Calibri"/>
              </a:rPr>
              <a:t>•  Supabase untuk basis data dan autentikasi</a:t>
            </a:r>
          </a:p>
          <a:p>
            <a:pPr algn="l">
              <a:lnSpc>
                <a:spcPct val="135000"/>
              </a:lnSpc>
            </a:pPr>
            <a:r>
              <a:rPr sz="1050" b="0" i="0">
                <a:solidFill>
                  <a:srgbClr val="4A382B"/>
                </a:solidFill>
                <a:latin typeface="Calibri"/>
              </a:rPr>
              <a:t>•  PostgreSQL dengan aturan keamanan tingkat baris</a:t>
            </a:r>
          </a:p>
          <a:p>
            <a:pPr algn="l">
              <a:lnSpc>
                <a:spcPct val="135000"/>
              </a:lnSpc>
            </a:pPr>
            <a:r>
              <a:rPr sz="1050" b="0" i="0">
                <a:solidFill>
                  <a:srgbClr val="4A382B"/>
                </a:solidFill>
                <a:latin typeface="Calibri"/>
              </a:rPr>
              <a:t>•  694 pemeriksaan otomatis di sisi kode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5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40080" y="566928"/>
            <a:ext cx="68580" cy="475488"/>
          </a:xfrm>
          <a:prstGeom prst="rect">
            <a:avLst/>
          </a:prstGeom>
          <a:solidFill>
            <a:srgbClr val="C88F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41248" y="530352"/>
            <a:ext cx="96012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 i="0">
                <a:solidFill>
                  <a:srgbClr val="2A1D14"/>
                </a:solidFill>
                <a:latin typeface="Calibri"/>
              </a:rPr>
              <a:t>Menjaga Kepercayaan atas Data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1248" y="950976"/>
            <a:ext cx="10607040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 i="0">
                <a:solidFill>
                  <a:srgbClr val="8B7361"/>
                </a:solidFill>
                <a:latin typeface="Calibri"/>
              </a:rPr>
              <a:t>Poin pelanggan dan riwayat transaksi harus dapat dipertanggungjawabkan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55680" y="6327648"/>
            <a:ext cx="5486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 i="0">
                <a:solidFill>
                  <a:srgbClr val="8B7361"/>
                </a:solidFill>
                <a:latin typeface="Calibri"/>
              </a:rPr>
              <a:t>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6327648"/>
            <a:ext cx="4572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0">
                <a:solidFill>
                  <a:srgbClr val="8B7361"/>
                </a:solidFill>
                <a:latin typeface="Calibri"/>
              </a:rPr>
              <a:t>Kataloji CRM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41248" y="1627632"/>
            <a:ext cx="5504688" cy="1371600"/>
          </a:xfrm>
          <a:prstGeom prst="roundRect">
            <a:avLst/>
          </a:prstGeom>
          <a:solidFill>
            <a:srgbClr val="FFFDF9"/>
          </a:solidFill>
          <a:ln w="12700">
            <a:solidFill>
              <a:srgbClr val="E4DC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lnSpc>
                <a:spcPct val="100000"/>
              </a:lnSpc>
            </a:pPr>
            <a:r>
              <a:rPr sz="1400" b="0">
                <a:solidFill>
                  <a:srgbClr val="4A382B"/>
                </a:solidFill>
                <a:latin typeface="Calibri"/>
              </a:rPr>
              <a:t/>
            </a:r>
          </a:p>
        </p:txBody>
      </p:sp>
      <p:sp>
        <p:nvSpPr>
          <p:cNvPr id="9" name="Oval 8"/>
          <p:cNvSpPr/>
          <p:nvPr/>
        </p:nvSpPr>
        <p:spPr>
          <a:xfrm>
            <a:off x="1042416" y="1828800"/>
            <a:ext cx="329184" cy="329184"/>
          </a:xfrm>
          <a:prstGeom prst="ellipse">
            <a:avLst/>
          </a:prstGeom>
          <a:solidFill>
            <a:srgbClr val="839A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lnSpc>
                <a:spcPct val="100000"/>
              </a:lnSpc>
            </a:pPr>
            <a:r>
              <a:rPr sz="1400" b="0">
                <a:solidFill>
                  <a:srgbClr val="4A382B"/>
                </a:solidFill>
                <a:latin typeface="Calibri"/>
              </a:rPr>
              <a:t/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99616" y="1810512"/>
            <a:ext cx="4572000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2A1D14"/>
                </a:solidFill>
                <a:latin typeface="Calibri"/>
              </a:rPr>
              <a:t>Poin tidak dapat dihapus dari aplikasi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499616" y="2176272"/>
            <a:ext cx="45720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1000" b="0" i="0">
                <a:solidFill>
                  <a:srgbClr val="4A382B"/>
                </a:solidFill>
                <a:latin typeface="Calibri"/>
              </a:rPr>
              <a:t>Buku besar poin hanya menambah dan membaca. Tidak ada izin mengubah atau menghapus, bahkan untuk admin.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528816" y="1627632"/>
            <a:ext cx="5504688" cy="1371600"/>
          </a:xfrm>
          <a:prstGeom prst="roundRect">
            <a:avLst/>
          </a:prstGeom>
          <a:solidFill>
            <a:srgbClr val="FFFDF9"/>
          </a:solidFill>
          <a:ln w="12700">
            <a:solidFill>
              <a:srgbClr val="E4DC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lnSpc>
                <a:spcPct val="100000"/>
              </a:lnSpc>
            </a:pPr>
            <a:r>
              <a:rPr sz="1400" b="0">
                <a:solidFill>
                  <a:srgbClr val="4A382B"/>
                </a:solidFill>
                <a:latin typeface="Calibri"/>
              </a:rPr>
              <a:t/>
            </a:r>
          </a:p>
        </p:txBody>
      </p:sp>
      <p:sp>
        <p:nvSpPr>
          <p:cNvPr id="13" name="Oval 12"/>
          <p:cNvSpPr/>
          <p:nvPr/>
        </p:nvSpPr>
        <p:spPr>
          <a:xfrm>
            <a:off x="6729984" y="1828800"/>
            <a:ext cx="329184" cy="329184"/>
          </a:xfrm>
          <a:prstGeom prst="ellipse">
            <a:avLst/>
          </a:prstGeom>
          <a:solidFill>
            <a:srgbClr val="839A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lnSpc>
                <a:spcPct val="100000"/>
              </a:lnSpc>
            </a:pPr>
            <a:r>
              <a:rPr sz="1400" b="0">
                <a:solidFill>
                  <a:srgbClr val="4A382B"/>
                </a:solidFill>
                <a:latin typeface="Calibri"/>
              </a:rPr>
              <a:t/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187184" y="1810512"/>
            <a:ext cx="4572000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2A1D14"/>
                </a:solidFill>
                <a:latin typeface="Calibri"/>
              </a:rPr>
              <a:t>Riwayat siapa mencatat dilindungi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187184" y="2176272"/>
            <a:ext cx="45720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1000" b="0" i="0">
                <a:solidFill>
                  <a:srgbClr val="4A382B"/>
                </a:solidFill>
                <a:latin typeface="Calibri"/>
              </a:rPr>
              <a:t>Nama kasir pencatat disalin ke transaksi dan dijaga agar tidak dapat diubah. Menghapus akun kasir tidak menghapus jejak itu.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41248" y="3182112"/>
            <a:ext cx="5504688" cy="1371600"/>
          </a:xfrm>
          <a:prstGeom prst="roundRect">
            <a:avLst/>
          </a:prstGeom>
          <a:solidFill>
            <a:srgbClr val="FFFDF9"/>
          </a:solidFill>
          <a:ln w="12700">
            <a:solidFill>
              <a:srgbClr val="E4DC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lnSpc>
                <a:spcPct val="100000"/>
              </a:lnSpc>
            </a:pPr>
            <a:r>
              <a:rPr sz="1400" b="0">
                <a:solidFill>
                  <a:srgbClr val="4A382B"/>
                </a:solidFill>
                <a:latin typeface="Calibri"/>
              </a:rPr>
              <a:t/>
            </a:r>
          </a:p>
        </p:txBody>
      </p:sp>
      <p:sp>
        <p:nvSpPr>
          <p:cNvPr id="17" name="Oval 16"/>
          <p:cNvSpPr/>
          <p:nvPr/>
        </p:nvSpPr>
        <p:spPr>
          <a:xfrm>
            <a:off x="1042416" y="3383280"/>
            <a:ext cx="329184" cy="329184"/>
          </a:xfrm>
          <a:prstGeom prst="ellipse">
            <a:avLst/>
          </a:prstGeom>
          <a:solidFill>
            <a:srgbClr val="C88F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lnSpc>
                <a:spcPct val="100000"/>
              </a:lnSpc>
            </a:pPr>
            <a:r>
              <a:rPr sz="1400" b="0">
                <a:solidFill>
                  <a:srgbClr val="4A382B"/>
                </a:solidFill>
                <a:latin typeface="Calibri"/>
              </a:rPr>
              <a:t/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99616" y="3364992"/>
            <a:ext cx="4572000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2A1D14"/>
                </a:solidFill>
                <a:latin typeface="Calibri"/>
              </a:rPr>
              <a:t>Menghapus pelanggan diganti mengarsipkan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499616" y="3730752"/>
            <a:ext cx="45720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1000" b="0" i="0">
                <a:solidFill>
                  <a:srgbClr val="4A382B"/>
                </a:solidFill>
                <a:latin typeface="Calibri"/>
              </a:rPr>
              <a:t>Dulu menghapus pelanggan ikut melenyapkan riwayat poinnya. Sekarang datanya disimpan, hanya disembunyikan dari daftar harian.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528816" y="3182112"/>
            <a:ext cx="5504688" cy="1371600"/>
          </a:xfrm>
          <a:prstGeom prst="roundRect">
            <a:avLst/>
          </a:prstGeom>
          <a:solidFill>
            <a:srgbClr val="FFFDF9"/>
          </a:solidFill>
          <a:ln w="12700">
            <a:solidFill>
              <a:srgbClr val="E4DC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lnSpc>
                <a:spcPct val="100000"/>
              </a:lnSpc>
            </a:pPr>
            <a:r>
              <a:rPr sz="1400" b="0">
                <a:solidFill>
                  <a:srgbClr val="4A382B"/>
                </a:solidFill>
                <a:latin typeface="Calibri"/>
              </a:rPr>
              <a:t/>
            </a:r>
          </a:p>
        </p:txBody>
      </p:sp>
      <p:sp>
        <p:nvSpPr>
          <p:cNvPr id="21" name="Oval 20"/>
          <p:cNvSpPr/>
          <p:nvPr/>
        </p:nvSpPr>
        <p:spPr>
          <a:xfrm>
            <a:off x="6729984" y="3383280"/>
            <a:ext cx="329184" cy="329184"/>
          </a:xfrm>
          <a:prstGeom prst="ellipse">
            <a:avLst/>
          </a:prstGeom>
          <a:solidFill>
            <a:srgbClr val="C88F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lnSpc>
                <a:spcPct val="100000"/>
              </a:lnSpc>
            </a:pPr>
            <a:r>
              <a:rPr sz="1400" b="0">
                <a:solidFill>
                  <a:srgbClr val="4A382B"/>
                </a:solidFill>
                <a:latin typeface="Calibri"/>
              </a:rPr>
              <a:t/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187184" y="3364992"/>
            <a:ext cx="4572000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2A1D14"/>
                </a:solidFill>
                <a:latin typeface="Calibri"/>
              </a:rPr>
              <a:t>Kunci rahasia hanya di server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187184" y="3730752"/>
            <a:ext cx="45720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1000" b="0" i="0">
                <a:solidFill>
                  <a:srgbClr val="4A382B"/>
                </a:solidFill>
                <a:latin typeface="Calibri"/>
              </a:rPr>
              <a:t>Kunci istimewa ke basis data tidak pernah ikut terkirim ke peramban, sehingga tidak dapat diambil dari perangkat pengguna.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841248" y="4736592"/>
            <a:ext cx="5504688" cy="1371600"/>
          </a:xfrm>
          <a:prstGeom prst="roundRect">
            <a:avLst/>
          </a:prstGeom>
          <a:solidFill>
            <a:srgbClr val="FFFDF9"/>
          </a:solidFill>
          <a:ln w="12700">
            <a:solidFill>
              <a:srgbClr val="E4DC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lnSpc>
                <a:spcPct val="100000"/>
              </a:lnSpc>
            </a:pPr>
            <a:r>
              <a:rPr sz="1400" b="0">
                <a:solidFill>
                  <a:srgbClr val="4A382B"/>
                </a:solidFill>
                <a:latin typeface="Calibri"/>
              </a:rPr>
              <a:t/>
            </a:r>
          </a:p>
        </p:txBody>
      </p:sp>
      <p:sp>
        <p:nvSpPr>
          <p:cNvPr id="25" name="Oval 24"/>
          <p:cNvSpPr/>
          <p:nvPr/>
        </p:nvSpPr>
        <p:spPr>
          <a:xfrm>
            <a:off x="1042416" y="4937760"/>
            <a:ext cx="329184" cy="329184"/>
          </a:xfrm>
          <a:prstGeom prst="ellipse">
            <a:avLst/>
          </a:prstGeom>
          <a:solidFill>
            <a:srgbClr val="D9CC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lnSpc>
                <a:spcPct val="100000"/>
              </a:lnSpc>
            </a:pPr>
            <a:r>
              <a:rPr sz="1400" b="0">
                <a:solidFill>
                  <a:srgbClr val="4A382B"/>
                </a:solidFill>
                <a:latin typeface="Calibri"/>
              </a:rPr>
              <a:t/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499616" y="4919472"/>
            <a:ext cx="4572000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2A1D14"/>
                </a:solidFill>
                <a:latin typeface="Calibri"/>
              </a:rPr>
              <a:t>Pemeriksaan keseimbangan poin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499616" y="5285232"/>
            <a:ext cx="45720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1000" b="0" i="0">
                <a:solidFill>
                  <a:srgbClr val="4A382B"/>
                </a:solidFill>
                <a:latin typeface="Calibri"/>
              </a:rPr>
              <a:t>Halaman Pengaturan membandingkan poin masuk dikurangi keluar dengan saldo pelanggan, dan menampilkan selisih bila ada.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528816" y="4736592"/>
            <a:ext cx="5504688" cy="1371600"/>
          </a:xfrm>
          <a:prstGeom prst="roundRect">
            <a:avLst/>
          </a:prstGeom>
          <a:solidFill>
            <a:srgbClr val="FFFDF9"/>
          </a:solidFill>
          <a:ln w="12700">
            <a:solidFill>
              <a:srgbClr val="E4DC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lnSpc>
                <a:spcPct val="100000"/>
              </a:lnSpc>
            </a:pPr>
            <a:r>
              <a:rPr sz="1400" b="0">
                <a:solidFill>
                  <a:srgbClr val="4A382B"/>
                </a:solidFill>
                <a:latin typeface="Calibri"/>
              </a:rPr>
              <a:t/>
            </a:r>
          </a:p>
        </p:txBody>
      </p:sp>
      <p:sp>
        <p:nvSpPr>
          <p:cNvPr id="29" name="Oval 28"/>
          <p:cNvSpPr/>
          <p:nvPr/>
        </p:nvSpPr>
        <p:spPr>
          <a:xfrm>
            <a:off x="6729984" y="4937760"/>
            <a:ext cx="329184" cy="329184"/>
          </a:xfrm>
          <a:prstGeom prst="ellipse">
            <a:avLst/>
          </a:prstGeom>
          <a:solidFill>
            <a:srgbClr val="D9CC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lnSpc>
                <a:spcPct val="100000"/>
              </a:lnSpc>
            </a:pPr>
            <a:r>
              <a:rPr sz="1400" b="0">
                <a:solidFill>
                  <a:srgbClr val="4A382B"/>
                </a:solidFill>
                <a:latin typeface="Calibri"/>
              </a:rPr>
              <a:t/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187184" y="4919472"/>
            <a:ext cx="4572000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2A1D14"/>
                </a:solidFill>
                <a:latin typeface="Calibri"/>
              </a:rPr>
              <a:t>Koreksi meninggalkan jejak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187184" y="5285232"/>
            <a:ext cx="45720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1000" b="0" i="0">
                <a:solidFill>
                  <a:srgbClr val="4A382B"/>
                </a:solidFill>
                <a:latin typeface="Calibri"/>
              </a:rPr>
              <a:t>Koreksi poin oleh pengelola dicatat sebagai baris baru, bukan menimpa nilai lama, sehingga asal-usulnya tetap terbaca.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5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40080" y="566928"/>
            <a:ext cx="68580" cy="475488"/>
          </a:xfrm>
          <a:prstGeom prst="rect">
            <a:avLst/>
          </a:prstGeom>
          <a:solidFill>
            <a:srgbClr val="C88F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41248" y="530352"/>
            <a:ext cx="96012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 i="0">
                <a:solidFill>
                  <a:srgbClr val="2A1D14"/>
                </a:solidFill>
                <a:latin typeface="Calibri"/>
              </a:rPr>
              <a:t>Alur Kerja Harian di Kedai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1248" y="950976"/>
            <a:ext cx="10607040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 i="0">
                <a:solidFill>
                  <a:srgbClr val="8B7361"/>
                </a:solidFill>
                <a:latin typeface="Calibri"/>
              </a:rPr>
              <a:t>Bagaimana aplikasi dipakai dari buka sampai tutup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55680" y="6327648"/>
            <a:ext cx="5486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 i="0">
                <a:solidFill>
                  <a:srgbClr val="8B7361"/>
                </a:solidFill>
                <a:latin typeface="Calibri"/>
              </a:rPr>
              <a:t>9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6327648"/>
            <a:ext cx="4572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0">
                <a:solidFill>
                  <a:srgbClr val="8B7361"/>
                </a:solidFill>
                <a:latin typeface="Calibri"/>
              </a:rPr>
              <a:t>Kataloji CRM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41248" y="1691640"/>
            <a:ext cx="5504688" cy="1207008"/>
          </a:xfrm>
          <a:prstGeom prst="roundRect">
            <a:avLst/>
          </a:prstGeom>
          <a:solidFill>
            <a:srgbClr val="FFFDF9"/>
          </a:solidFill>
          <a:ln w="12700">
            <a:solidFill>
              <a:srgbClr val="E4DC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lnSpc>
                <a:spcPct val="100000"/>
              </a:lnSpc>
            </a:pPr>
            <a:r>
              <a:rPr sz="1400" b="0">
                <a:solidFill>
                  <a:srgbClr val="4A382B"/>
                </a:solidFill>
                <a:latin typeface="Calibri"/>
              </a:rPr>
              <a:t/>
            </a:r>
          </a:p>
        </p:txBody>
      </p:sp>
      <p:sp>
        <p:nvSpPr>
          <p:cNvPr id="9" name="Oval 8"/>
          <p:cNvSpPr/>
          <p:nvPr/>
        </p:nvSpPr>
        <p:spPr>
          <a:xfrm>
            <a:off x="1078992" y="2020824"/>
            <a:ext cx="548640" cy="548640"/>
          </a:xfrm>
          <a:prstGeom prst="ellipse">
            <a:avLst/>
          </a:prstGeom>
          <a:solidFill>
            <a:srgbClr val="C88F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lnSpc>
                <a:spcPct val="100000"/>
              </a:lnSpc>
            </a:pPr>
            <a:r>
              <a:rPr sz="1500" b="1">
                <a:solidFill>
                  <a:srgbClr val="FAF5EE"/>
                </a:solidFill>
                <a:latin typeface="Calibri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810512" y="1965960"/>
            <a:ext cx="4297680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 i="0">
                <a:solidFill>
                  <a:srgbClr val="2A1D14"/>
                </a:solidFill>
                <a:latin typeface="Calibri"/>
              </a:rPr>
              <a:t>Buka kedai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810512" y="2331720"/>
            <a:ext cx="429768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 i="0">
                <a:solidFill>
                  <a:srgbClr val="4A382B"/>
                </a:solidFill>
                <a:latin typeface="Calibri"/>
              </a:rPr>
              <a:t>Kasir masuk, dashboard menampilkan keadaan hari ini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6373368" y="2295144"/>
            <a:ext cx="128016" cy="0"/>
          </a:xfrm>
          <a:prstGeom prst="line">
            <a:avLst/>
          </a:prstGeom>
          <a:ln w="15875">
            <a:solidFill>
              <a:srgbClr val="8B7361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ounded Rectangle 12"/>
          <p:cNvSpPr/>
          <p:nvPr/>
        </p:nvSpPr>
        <p:spPr>
          <a:xfrm>
            <a:off x="6528816" y="1691640"/>
            <a:ext cx="5504688" cy="1207008"/>
          </a:xfrm>
          <a:prstGeom prst="roundRect">
            <a:avLst/>
          </a:prstGeom>
          <a:solidFill>
            <a:srgbClr val="FFFDF9"/>
          </a:solidFill>
          <a:ln w="12700">
            <a:solidFill>
              <a:srgbClr val="E4DC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lnSpc>
                <a:spcPct val="100000"/>
              </a:lnSpc>
            </a:pPr>
            <a:r>
              <a:rPr sz="1400" b="0">
                <a:solidFill>
                  <a:srgbClr val="4A382B"/>
                </a:solidFill>
                <a:latin typeface="Calibri"/>
              </a:rPr>
              <a:t/>
            </a:r>
          </a:p>
        </p:txBody>
      </p:sp>
      <p:sp>
        <p:nvSpPr>
          <p:cNvPr id="14" name="Oval 13"/>
          <p:cNvSpPr/>
          <p:nvPr/>
        </p:nvSpPr>
        <p:spPr>
          <a:xfrm>
            <a:off x="6766560" y="2020824"/>
            <a:ext cx="548640" cy="548640"/>
          </a:xfrm>
          <a:prstGeom prst="ellipse">
            <a:avLst/>
          </a:prstGeom>
          <a:solidFill>
            <a:srgbClr val="D9CC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lnSpc>
                <a:spcPct val="100000"/>
              </a:lnSpc>
            </a:pPr>
            <a:r>
              <a:rPr sz="1500" b="1">
                <a:solidFill>
                  <a:srgbClr val="FAF5EE"/>
                </a:solidFill>
                <a:latin typeface="Calibri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498080" y="1965960"/>
            <a:ext cx="4297680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 i="0">
                <a:solidFill>
                  <a:srgbClr val="2A1D14"/>
                </a:solidFill>
                <a:latin typeface="Calibri"/>
              </a:rPr>
              <a:t>Periksa notifikasi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498080" y="2331720"/>
            <a:ext cx="429768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 i="0">
                <a:solidFill>
                  <a:srgbClr val="4A382B"/>
                </a:solidFill>
                <a:latin typeface="Calibri"/>
              </a:rPr>
              <a:t>Poin yang akan hangus dan pelanggan ulang tahun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41248" y="3136392"/>
            <a:ext cx="5504688" cy="1207008"/>
          </a:xfrm>
          <a:prstGeom prst="roundRect">
            <a:avLst/>
          </a:prstGeom>
          <a:solidFill>
            <a:srgbClr val="FFFDF9"/>
          </a:solidFill>
          <a:ln w="12700">
            <a:solidFill>
              <a:srgbClr val="E4DC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lnSpc>
                <a:spcPct val="100000"/>
              </a:lnSpc>
            </a:pPr>
            <a:r>
              <a:rPr sz="1400" b="0">
                <a:solidFill>
                  <a:srgbClr val="4A382B"/>
                </a:solidFill>
                <a:latin typeface="Calibri"/>
              </a:rPr>
              <a:t/>
            </a:r>
          </a:p>
        </p:txBody>
      </p:sp>
      <p:sp>
        <p:nvSpPr>
          <p:cNvPr id="18" name="Oval 17"/>
          <p:cNvSpPr/>
          <p:nvPr/>
        </p:nvSpPr>
        <p:spPr>
          <a:xfrm>
            <a:off x="1078992" y="3465576"/>
            <a:ext cx="548640" cy="548640"/>
          </a:xfrm>
          <a:prstGeom prst="ellipse">
            <a:avLst/>
          </a:prstGeom>
          <a:solidFill>
            <a:srgbClr val="839A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lnSpc>
                <a:spcPct val="100000"/>
              </a:lnSpc>
            </a:pPr>
            <a:r>
              <a:rPr sz="1500" b="1">
                <a:solidFill>
                  <a:srgbClr val="FAF5EE"/>
                </a:solidFill>
                <a:latin typeface="Calibri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810512" y="3410712"/>
            <a:ext cx="4297680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 i="0">
                <a:solidFill>
                  <a:srgbClr val="2A1D14"/>
                </a:solidFill>
                <a:latin typeface="Calibri"/>
              </a:rPr>
              <a:t>Layani pembeli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810512" y="3776472"/>
            <a:ext cx="429768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 i="0">
                <a:solidFill>
                  <a:srgbClr val="4A382B"/>
                </a:solidFill>
                <a:latin typeface="Calibri"/>
              </a:rPr>
              <a:t>Catat transaksi, poin masuk sendiri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6373368" y="3739896"/>
            <a:ext cx="128016" cy="0"/>
          </a:xfrm>
          <a:prstGeom prst="line">
            <a:avLst/>
          </a:prstGeom>
          <a:ln w="15875">
            <a:solidFill>
              <a:srgbClr val="8B7361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Rounded Rectangle 21"/>
          <p:cNvSpPr/>
          <p:nvPr/>
        </p:nvSpPr>
        <p:spPr>
          <a:xfrm>
            <a:off x="6528816" y="3136392"/>
            <a:ext cx="5504688" cy="1207008"/>
          </a:xfrm>
          <a:prstGeom prst="roundRect">
            <a:avLst/>
          </a:prstGeom>
          <a:solidFill>
            <a:srgbClr val="FFFDF9"/>
          </a:solidFill>
          <a:ln w="12700">
            <a:solidFill>
              <a:srgbClr val="E4DC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lnSpc>
                <a:spcPct val="100000"/>
              </a:lnSpc>
            </a:pPr>
            <a:r>
              <a:rPr sz="1400" b="0">
                <a:solidFill>
                  <a:srgbClr val="4A382B"/>
                </a:solidFill>
                <a:latin typeface="Calibri"/>
              </a:rPr>
              <a:t/>
            </a:r>
          </a:p>
        </p:txBody>
      </p:sp>
      <p:sp>
        <p:nvSpPr>
          <p:cNvPr id="23" name="Oval 22"/>
          <p:cNvSpPr/>
          <p:nvPr/>
        </p:nvSpPr>
        <p:spPr>
          <a:xfrm>
            <a:off x="6766560" y="3465576"/>
            <a:ext cx="548640" cy="548640"/>
          </a:xfrm>
          <a:prstGeom prst="ellipse">
            <a:avLst/>
          </a:prstGeom>
          <a:solidFill>
            <a:srgbClr val="839A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lnSpc>
                <a:spcPct val="100000"/>
              </a:lnSpc>
            </a:pPr>
            <a:r>
              <a:rPr sz="1500" b="1">
                <a:solidFill>
                  <a:srgbClr val="FAF5EE"/>
                </a:solidFill>
                <a:latin typeface="Calibri"/>
              </a:rPr>
              <a:t>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498080" y="3410712"/>
            <a:ext cx="4297680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 i="0">
                <a:solidFill>
                  <a:srgbClr val="2A1D14"/>
                </a:solidFill>
                <a:latin typeface="Calibri"/>
              </a:rPr>
              <a:t>Kenali pelanggan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498080" y="3776472"/>
            <a:ext cx="429768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 i="0">
                <a:solidFill>
                  <a:srgbClr val="4A382B"/>
                </a:solidFill>
                <a:latin typeface="Calibri"/>
              </a:rPr>
              <a:t>Lihat siapa yang sering datang dan apa kesukaannya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841248" y="4581144"/>
            <a:ext cx="5504688" cy="1207008"/>
          </a:xfrm>
          <a:prstGeom prst="roundRect">
            <a:avLst/>
          </a:prstGeom>
          <a:solidFill>
            <a:srgbClr val="FFFDF9"/>
          </a:solidFill>
          <a:ln w="12700">
            <a:solidFill>
              <a:srgbClr val="E4DC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lnSpc>
                <a:spcPct val="100000"/>
              </a:lnSpc>
            </a:pPr>
            <a:r>
              <a:rPr sz="1400" b="0">
                <a:solidFill>
                  <a:srgbClr val="4A382B"/>
                </a:solidFill>
                <a:latin typeface="Calibri"/>
              </a:rPr>
              <a:t/>
            </a:r>
          </a:p>
        </p:txBody>
      </p:sp>
      <p:sp>
        <p:nvSpPr>
          <p:cNvPr id="27" name="Oval 26"/>
          <p:cNvSpPr/>
          <p:nvPr/>
        </p:nvSpPr>
        <p:spPr>
          <a:xfrm>
            <a:off x="1078992" y="4910328"/>
            <a:ext cx="548640" cy="548640"/>
          </a:xfrm>
          <a:prstGeom prst="ellipse">
            <a:avLst/>
          </a:prstGeom>
          <a:solidFill>
            <a:srgbClr val="C88F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lnSpc>
                <a:spcPct val="100000"/>
              </a:lnSpc>
            </a:pPr>
            <a:r>
              <a:rPr sz="1500" b="1">
                <a:solidFill>
                  <a:srgbClr val="FAF5EE"/>
                </a:solidFill>
                <a:latin typeface="Calibri"/>
              </a:rPr>
              <a:t>5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810512" y="4855464"/>
            <a:ext cx="4297680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 i="0">
                <a:solidFill>
                  <a:srgbClr val="2A1D14"/>
                </a:solidFill>
                <a:latin typeface="Calibri"/>
              </a:rPr>
              <a:t>Kirim penawaran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810512" y="5221224"/>
            <a:ext cx="429768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 i="0">
                <a:solidFill>
                  <a:srgbClr val="4A382B"/>
                </a:solidFill>
                <a:latin typeface="Calibri"/>
              </a:rPr>
              <a:t>Hubungi pelanggan tertentu lewat WhatsApp</a:t>
            </a:r>
          </a:p>
        </p:txBody>
      </p:sp>
      <p:cxnSp>
        <p:nvCxnSpPr>
          <p:cNvPr id="30" name="Connector 29"/>
          <p:cNvCxnSpPr/>
          <p:nvPr/>
        </p:nvCxnSpPr>
        <p:spPr>
          <a:xfrm>
            <a:off x="6373368" y="5184648"/>
            <a:ext cx="128016" cy="0"/>
          </a:xfrm>
          <a:prstGeom prst="line">
            <a:avLst/>
          </a:prstGeom>
          <a:ln w="15875">
            <a:solidFill>
              <a:srgbClr val="8B7361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Rounded Rectangle 30"/>
          <p:cNvSpPr/>
          <p:nvPr/>
        </p:nvSpPr>
        <p:spPr>
          <a:xfrm>
            <a:off x="6528816" y="4581144"/>
            <a:ext cx="5504688" cy="1207008"/>
          </a:xfrm>
          <a:prstGeom prst="roundRect">
            <a:avLst/>
          </a:prstGeom>
          <a:solidFill>
            <a:srgbClr val="FFFDF9"/>
          </a:solidFill>
          <a:ln w="12700">
            <a:solidFill>
              <a:srgbClr val="E4DC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lnSpc>
                <a:spcPct val="100000"/>
              </a:lnSpc>
            </a:pPr>
            <a:r>
              <a:rPr sz="1400" b="0">
                <a:solidFill>
                  <a:srgbClr val="4A382B"/>
                </a:solidFill>
                <a:latin typeface="Calibri"/>
              </a:rPr>
              <a:t/>
            </a:r>
          </a:p>
        </p:txBody>
      </p:sp>
      <p:sp>
        <p:nvSpPr>
          <p:cNvPr id="32" name="Oval 31"/>
          <p:cNvSpPr/>
          <p:nvPr/>
        </p:nvSpPr>
        <p:spPr>
          <a:xfrm>
            <a:off x="6766560" y="4910328"/>
            <a:ext cx="548640" cy="548640"/>
          </a:xfrm>
          <a:prstGeom prst="ellipse">
            <a:avLst/>
          </a:prstGeom>
          <a:solidFill>
            <a:srgbClr val="9B98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lnSpc>
                <a:spcPct val="100000"/>
              </a:lnSpc>
            </a:pPr>
            <a:r>
              <a:rPr sz="1500" b="1">
                <a:solidFill>
                  <a:srgbClr val="FAF5EE"/>
                </a:solidFill>
                <a:latin typeface="Calibri"/>
              </a:rPr>
              <a:t>6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498080" y="4855464"/>
            <a:ext cx="4297680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 i="0">
                <a:solidFill>
                  <a:srgbClr val="2A1D14"/>
                </a:solidFill>
                <a:latin typeface="Calibri"/>
              </a:rPr>
              <a:t>Tutup kedai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498080" y="5221224"/>
            <a:ext cx="429768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 i="0">
                <a:solidFill>
                  <a:srgbClr val="4A382B"/>
                </a:solidFill>
                <a:latin typeface="Calibri"/>
              </a:rPr>
              <a:t>Rekap kasir dan ringkasan penjualan hari itu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5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40080" y="566928"/>
            <a:ext cx="68580" cy="475488"/>
          </a:xfrm>
          <a:prstGeom prst="rect">
            <a:avLst/>
          </a:prstGeom>
          <a:solidFill>
            <a:srgbClr val="C88F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41248" y="530352"/>
            <a:ext cx="96012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 i="0">
                <a:solidFill>
                  <a:srgbClr val="2A1D14"/>
                </a:solidFill>
                <a:latin typeface="Calibri"/>
              </a:rPr>
              <a:t>Yang Sudah Selesai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1248" y="950976"/>
            <a:ext cx="10607040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 i="0">
                <a:solidFill>
                  <a:srgbClr val="8B7361"/>
                </a:solidFill>
                <a:latin typeface="Calibri"/>
              </a:rPr>
              <a:t>Keadaan aplikasi pada saat presentasi ini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55680" y="6327648"/>
            <a:ext cx="5486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 i="0">
                <a:solidFill>
                  <a:srgbClr val="8B7361"/>
                </a:solidFill>
                <a:latin typeface="Calibri"/>
              </a:rPr>
              <a:t>10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6327648"/>
            <a:ext cx="4572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0">
                <a:solidFill>
                  <a:srgbClr val="8B7361"/>
                </a:solidFill>
                <a:latin typeface="Calibri"/>
              </a:rPr>
              <a:t>Kataloji CRM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41248" y="1627632"/>
            <a:ext cx="2624328" cy="1783080"/>
          </a:xfrm>
          <a:prstGeom prst="roundRect">
            <a:avLst/>
          </a:prstGeom>
          <a:solidFill>
            <a:srgbClr val="FFFDF9"/>
          </a:solidFill>
          <a:ln w="12700">
            <a:solidFill>
              <a:srgbClr val="E4DC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lnSpc>
                <a:spcPct val="100000"/>
              </a:lnSpc>
            </a:pPr>
            <a:r>
              <a:rPr sz="1400" b="0">
                <a:solidFill>
                  <a:srgbClr val="4A382B"/>
                </a:solidFill>
                <a:latin typeface="Calibri"/>
              </a:rPr>
              <a:t/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704" y="1810512"/>
            <a:ext cx="2194560" cy="685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4000" b="1" i="0">
                <a:solidFill>
                  <a:srgbClr val="839A66"/>
                </a:solidFill>
                <a:latin typeface="Calibri"/>
              </a:rPr>
              <a:t>694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60704" y="2514600"/>
            <a:ext cx="21945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 i="0">
                <a:solidFill>
                  <a:srgbClr val="2A1D14"/>
                </a:solidFill>
                <a:latin typeface="Calibri"/>
              </a:rPr>
              <a:t>pemeriksaan otomatis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60704" y="2816352"/>
            <a:ext cx="219456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950" b="0" i="0">
                <a:solidFill>
                  <a:srgbClr val="8B7361"/>
                </a:solidFill>
                <a:latin typeface="Calibri"/>
              </a:rPr>
              <a:t>Menjaga aturan bisnis tetap benar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611880" y="1627632"/>
            <a:ext cx="2624328" cy="1783080"/>
          </a:xfrm>
          <a:prstGeom prst="roundRect">
            <a:avLst/>
          </a:prstGeom>
          <a:solidFill>
            <a:srgbClr val="FFFDF9"/>
          </a:solidFill>
          <a:ln w="12700">
            <a:solidFill>
              <a:srgbClr val="E4DC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lnSpc>
                <a:spcPct val="100000"/>
              </a:lnSpc>
            </a:pPr>
            <a:r>
              <a:rPr sz="1400" b="0">
                <a:solidFill>
                  <a:srgbClr val="4A382B"/>
                </a:solidFill>
                <a:latin typeface="Calibri"/>
              </a:rPr>
              <a:t/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831336" y="1810512"/>
            <a:ext cx="2194560" cy="685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4000" b="1" i="0">
                <a:solidFill>
                  <a:srgbClr val="C88F7B"/>
                </a:solidFill>
                <a:latin typeface="Calibri"/>
              </a:rPr>
              <a:t>9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831336" y="2514600"/>
            <a:ext cx="21945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 i="0">
                <a:solidFill>
                  <a:srgbClr val="2A1D14"/>
                </a:solidFill>
                <a:latin typeface="Calibri"/>
              </a:rPr>
              <a:t>halaman utama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831336" y="2816352"/>
            <a:ext cx="219456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950" b="0" i="0">
                <a:solidFill>
                  <a:srgbClr val="8B7361"/>
                </a:solidFill>
                <a:latin typeface="Calibri"/>
              </a:rPr>
              <a:t>Dari kasir sampai laporan pemilik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382512" y="1627632"/>
            <a:ext cx="2624328" cy="1783080"/>
          </a:xfrm>
          <a:prstGeom prst="roundRect">
            <a:avLst/>
          </a:prstGeom>
          <a:solidFill>
            <a:srgbClr val="FFFDF9"/>
          </a:solidFill>
          <a:ln w="12700">
            <a:solidFill>
              <a:srgbClr val="E4DC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lnSpc>
                <a:spcPct val="100000"/>
              </a:lnSpc>
            </a:pPr>
            <a:r>
              <a:rPr sz="1400" b="0">
                <a:solidFill>
                  <a:srgbClr val="4A382B"/>
                </a:solidFill>
                <a:latin typeface="Calibri"/>
              </a:rPr>
              <a:t/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601968" y="1810512"/>
            <a:ext cx="2194560" cy="685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4000" b="1" i="0">
                <a:solidFill>
                  <a:srgbClr val="D9CC4D"/>
                </a:solidFill>
                <a:latin typeface="Calibri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601968" y="2514600"/>
            <a:ext cx="21945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 i="0">
                <a:solidFill>
                  <a:srgbClr val="2A1D14"/>
                </a:solidFill>
                <a:latin typeface="Calibri"/>
              </a:rPr>
              <a:t>peran pengguna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601968" y="2816352"/>
            <a:ext cx="219456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950" b="0" i="0">
                <a:solidFill>
                  <a:srgbClr val="8B7361"/>
                </a:solidFill>
                <a:latin typeface="Calibri"/>
              </a:rPr>
              <a:t>Admin, manager, dan kasir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9153144" y="1627632"/>
            <a:ext cx="2624328" cy="1783080"/>
          </a:xfrm>
          <a:prstGeom prst="roundRect">
            <a:avLst/>
          </a:prstGeom>
          <a:solidFill>
            <a:srgbClr val="FFFDF9"/>
          </a:solidFill>
          <a:ln w="12700">
            <a:solidFill>
              <a:srgbClr val="E4DC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lnSpc>
                <a:spcPct val="100000"/>
              </a:lnSpc>
            </a:pPr>
            <a:r>
              <a:rPr sz="1400" b="0">
                <a:solidFill>
                  <a:srgbClr val="4A382B"/>
                </a:solidFill>
                <a:latin typeface="Calibri"/>
              </a:rPr>
              <a:t/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372600" y="1810512"/>
            <a:ext cx="2194560" cy="685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4000" b="1" i="0">
                <a:solidFill>
                  <a:srgbClr val="9B9824"/>
                </a:solidFill>
                <a:latin typeface="Calibri"/>
              </a:rPr>
              <a:t>0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372600" y="2514600"/>
            <a:ext cx="21945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 i="0">
                <a:solidFill>
                  <a:srgbClr val="2A1D14"/>
                </a:solidFill>
                <a:latin typeface="Calibri"/>
              </a:rPr>
              <a:t>pesan galat di layar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372600" y="2816352"/>
            <a:ext cx="219456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950" b="0" i="0">
                <a:solidFill>
                  <a:srgbClr val="8B7361"/>
                </a:solidFill>
                <a:latin typeface="Calibri"/>
              </a:rPr>
              <a:t>Semua pesan ditulis dalam bahasa Indonesia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41248" y="3675887"/>
            <a:ext cx="5486400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2A1D14"/>
                </a:solidFill>
                <a:latin typeface="Calibri"/>
              </a:rPr>
              <a:t>Keadaan tiap bagian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841248" y="4059936"/>
            <a:ext cx="10515600" cy="365760"/>
          </a:xfrm>
          <a:prstGeom prst="roundRect">
            <a:avLst/>
          </a:prstGeom>
          <a:solidFill>
            <a:srgbClr val="FFFDF9"/>
          </a:solidFill>
          <a:ln w="9525">
            <a:solidFill>
              <a:srgbClr val="E4DC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lnSpc>
                <a:spcPct val="100000"/>
              </a:lnSpc>
            </a:pPr>
            <a:r>
              <a:rPr sz="1400" b="0">
                <a:solidFill>
                  <a:srgbClr val="4A382B"/>
                </a:solidFill>
                <a:latin typeface="Calibri"/>
              </a:rPr>
              <a:t/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42415" y="4128516"/>
            <a:ext cx="5852160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 i="0">
                <a:solidFill>
                  <a:srgbClr val="4A382B"/>
                </a:solidFill>
                <a:latin typeface="Calibri"/>
              </a:rPr>
              <a:t>Kasir dan pencatatan transaksi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132320" y="4128516"/>
            <a:ext cx="4023360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1" i="0">
                <a:solidFill>
                  <a:srgbClr val="839A66"/>
                </a:solidFill>
                <a:latin typeface="Calibri"/>
              </a:rPr>
              <a:t>Sudah dapat dipakai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841248" y="4471416"/>
            <a:ext cx="10515600" cy="365760"/>
          </a:xfrm>
          <a:prstGeom prst="roundRect">
            <a:avLst/>
          </a:prstGeom>
          <a:solidFill>
            <a:srgbClr val="FFFDF9"/>
          </a:solidFill>
          <a:ln w="9525">
            <a:solidFill>
              <a:srgbClr val="E4DC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lnSpc>
                <a:spcPct val="100000"/>
              </a:lnSpc>
            </a:pPr>
            <a:r>
              <a:rPr sz="1400" b="0">
                <a:solidFill>
                  <a:srgbClr val="4A382B"/>
                </a:solidFill>
                <a:latin typeface="Calibri"/>
              </a:rPr>
              <a:t/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42415" y="4539996"/>
            <a:ext cx="5852160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 i="0">
                <a:solidFill>
                  <a:srgbClr val="4A382B"/>
                </a:solidFill>
                <a:latin typeface="Calibri"/>
              </a:rPr>
              <a:t>Pelanggan, poin, dan loyalitas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132320" y="4539996"/>
            <a:ext cx="4023360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1" i="0">
                <a:solidFill>
                  <a:srgbClr val="839A66"/>
                </a:solidFill>
                <a:latin typeface="Calibri"/>
              </a:rPr>
              <a:t>Sudah dapat dipakai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841248" y="4882896"/>
            <a:ext cx="10515600" cy="365760"/>
          </a:xfrm>
          <a:prstGeom prst="roundRect">
            <a:avLst/>
          </a:prstGeom>
          <a:solidFill>
            <a:srgbClr val="FFFDF9"/>
          </a:solidFill>
          <a:ln w="9525">
            <a:solidFill>
              <a:srgbClr val="E4DC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lnSpc>
                <a:spcPct val="100000"/>
              </a:lnSpc>
            </a:pPr>
            <a:r>
              <a:rPr sz="1400" b="0">
                <a:solidFill>
                  <a:srgbClr val="4A382B"/>
                </a:solidFill>
                <a:latin typeface="Calibri"/>
              </a:rPr>
              <a:t/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42415" y="4951476"/>
            <a:ext cx="5852160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 i="0">
                <a:solidFill>
                  <a:srgbClr val="4A382B"/>
                </a:solidFill>
                <a:latin typeface="Calibri"/>
              </a:rPr>
              <a:t>Pemasaran lewat WhatsApp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132320" y="4951476"/>
            <a:ext cx="4023360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1" i="0">
                <a:solidFill>
                  <a:srgbClr val="839A66"/>
                </a:solidFill>
                <a:latin typeface="Calibri"/>
              </a:rPr>
              <a:t>Sudah dapat dipakai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841248" y="5294376"/>
            <a:ext cx="10515600" cy="365760"/>
          </a:xfrm>
          <a:prstGeom prst="roundRect">
            <a:avLst/>
          </a:prstGeom>
          <a:solidFill>
            <a:srgbClr val="FFFDF9"/>
          </a:solidFill>
          <a:ln w="9525">
            <a:solidFill>
              <a:srgbClr val="E4DC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lnSpc>
                <a:spcPct val="100000"/>
              </a:lnSpc>
            </a:pPr>
            <a:r>
              <a:rPr sz="1400" b="0">
                <a:solidFill>
                  <a:srgbClr val="4A382B"/>
                </a:solidFill>
                <a:latin typeface="Calibri"/>
              </a:rPr>
              <a:t/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42415" y="5362956"/>
            <a:ext cx="5852160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 i="0">
                <a:solidFill>
                  <a:srgbClr val="4A382B"/>
                </a:solidFill>
                <a:latin typeface="Calibri"/>
              </a:rPr>
              <a:t>Analitik dan rekap kasir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132320" y="5362956"/>
            <a:ext cx="4023360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1" i="0">
                <a:solidFill>
                  <a:srgbClr val="839A66"/>
                </a:solidFill>
                <a:latin typeface="Calibri"/>
              </a:rPr>
              <a:t>Sudah dapat dipakai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841248" y="5705856"/>
            <a:ext cx="10515600" cy="365760"/>
          </a:xfrm>
          <a:prstGeom prst="roundRect">
            <a:avLst/>
          </a:prstGeom>
          <a:solidFill>
            <a:srgbClr val="FFFDF9"/>
          </a:solidFill>
          <a:ln w="9525">
            <a:solidFill>
              <a:srgbClr val="E4DC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lnSpc>
                <a:spcPct val="100000"/>
              </a:lnSpc>
            </a:pPr>
            <a:r>
              <a:rPr sz="1400" b="0">
                <a:solidFill>
                  <a:srgbClr val="4A382B"/>
                </a:solidFill>
                <a:latin typeface="Calibri"/>
              </a:rPr>
              <a:t/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42415" y="5774436"/>
            <a:ext cx="5852160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 i="0">
                <a:solidFill>
                  <a:srgbClr val="4A382B"/>
                </a:solidFill>
                <a:latin typeface="Calibri"/>
              </a:rPr>
              <a:t>Pengelolaan akun staf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132320" y="5774436"/>
            <a:ext cx="4023360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1" i="0">
                <a:solidFill>
                  <a:srgbClr val="839A66"/>
                </a:solidFill>
                <a:latin typeface="Calibri"/>
              </a:rPr>
              <a:t>Sudah dapat dipakai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841248" y="6117336"/>
            <a:ext cx="10515600" cy="365760"/>
          </a:xfrm>
          <a:prstGeom prst="roundRect">
            <a:avLst/>
          </a:prstGeom>
          <a:solidFill>
            <a:srgbClr val="FFFDF9"/>
          </a:solidFill>
          <a:ln w="9525">
            <a:solidFill>
              <a:srgbClr val="E4DC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lnSpc>
                <a:spcPct val="100000"/>
              </a:lnSpc>
            </a:pPr>
            <a:r>
              <a:rPr sz="1400" b="0">
                <a:solidFill>
                  <a:srgbClr val="4A382B"/>
                </a:solidFill>
                <a:latin typeface="Calibri"/>
              </a:rPr>
              <a:t/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042415" y="6185916"/>
            <a:ext cx="5852160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 i="0">
                <a:solidFill>
                  <a:srgbClr val="4A382B"/>
                </a:solidFill>
                <a:latin typeface="Calibri"/>
              </a:rPr>
              <a:t>Arsip pelanggan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7132320" y="6185916"/>
            <a:ext cx="4023360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1" i="0">
                <a:solidFill>
                  <a:srgbClr val="D9CC4D"/>
                </a:solidFill>
                <a:latin typeface="Calibri"/>
              </a:rPr>
              <a:t>Baru dipasang, siap diuji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5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40080" y="566928"/>
            <a:ext cx="68580" cy="475488"/>
          </a:xfrm>
          <a:prstGeom prst="rect">
            <a:avLst/>
          </a:prstGeom>
          <a:solidFill>
            <a:srgbClr val="C88F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41248" y="530352"/>
            <a:ext cx="96012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 i="0">
                <a:solidFill>
                  <a:srgbClr val="2A1D14"/>
                </a:solidFill>
                <a:latin typeface="Calibri"/>
              </a:rPr>
              <a:t>Rencana Selanjutnya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1248" y="950976"/>
            <a:ext cx="10607040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 i="0">
                <a:solidFill>
                  <a:srgbClr val="8B7361"/>
                </a:solidFill>
                <a:latin typeface="Calibri"/>
              </a:rPr>
              <a:t>Yang perlu diselesaikan sebelum dipakai sehari-hari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55680" y="6327648"/>
            <a:ext cx="5486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 i="0">
                <a:solidFill>
                  <a:srgbClr val="8B7361"/>
                </a:solidFill>
                <a:latin typeface="Calibri"/>
              </a:rPr>
              <a:t>11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6327648"/>
            <a:ext cx="4572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0">
                <a:solidFill>
                  <a:srgbClr val="8B7361"/>
                </a:solidFill>
                <a:latin typeface="Calibri"/>
              </a:rPr>
              <a:t>Kataloji CRM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41248" y="1664208"/>
            <a:ext cx="10515600" cy="1042415"/>
          </a:xfrm>
          <a:prstGeom prst="roundRect">
            <a:avLst/>
          </a:prstGeom>
          <a:solidFill>
            <a:srgbClr val="FFFDF9"/>
          </a:solidFill>
          <a:ln w="12700">
            <a:solidFill>
              <a:srgbClr val="E4DC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lnSpc>
                <a:spcPct val="100000"/>
              </a:lnSpc>
            </a:pPr>
            <a:r>
              <a:rPr sz="1400" b="0">
                <a:solidFill>
                  <a:srgbClr val="4A382B"/>
                </a:solidFill>
                <a:latin typeface="Calibri"/>
              </a:rPr>
              <a:t/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042415" y="1828800"/>
            <a:ext cx="1554480" cy="310896"/>
          </a:xfrm>
          <a:prstGeom prst="roundRect">
            <a:avLst/>
          </a:prstGeom>
          <a:solidFill>
            <a:srgbClr val="B455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lnSpc>
                <a:spcPct val="100000"/>
              </a:lnSpc>
            </a:pPr>
            <a:r>
              <a:rPr sz="950" b="1">
                <a:solidFill>
                  <a:srgbClr val="FAF5EE"/>
                </a:solidFill>
                <a:latin typeface="Calibri"/>
              </a:rPr>
              <a:t>Mendahulukan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798064" y="1810512"/>
            <a:ext cx="832104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2A1D14"/>
                </a:solidFill>
                <a:latin typeface="Calibri"/>
              </a:rPr>
              <a:t>Menutup pendaftaran terbuka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798064" y="2176272"/>
            <a:ext cx="832104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 b="0" i="0">
                <a:solidFill>
                  <a:srgbClr val="4A382B"/>
                </a:solidFill>
                <a:latin typeface="Calibri"/>
              </a:rPr>
              <a:t>Pendaftaran akun harus dimatikan sebelum dipakai sungguhan. Saat ini masih terbuka, sehingga orang luar berpotensi membuat akun sendiri.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41248" y="2798064"/>
            <a:ext cx="10515600" cy="1042415"/>
          </a:xfrm>
          <a:prstGeom prst="roundRect">
            <a:avLst/>
          </a:prstGeom>
          <a:solidFill>
            <a:srgbClr val="FFFDF9"/>
          </a:solidFill>
          <a:ln w="12700">
            <a:solidFill>
              <a:srgbClr val="E4DC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lnSpc>
                <a:spcPct val="100000"/>
              </a:lnSpc>
            </a:pPr>
            <a:r>
              <a:rPr sz="1400" b="0">
                <a:solidFill>
                  <a:srgbClr val="4A382B"/>
                </a:solidFill>
                <a:latin typeface="Calibri"/>
              </a:rPr>
              <a:t/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042415" y="2962656"/>
            <a:ext cx="1554480" cy="310896"/>
          </a:xfrm>
          <a:prstGeom prst="roundRect">
            <a:avLst/>
          </a:prstGeom>
          <a:solidFill>
            <a:srgbClr val="D9CC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lnSpc>
                <a:spcPct val="100000"/>
              </a:lnSpc>
            </a:pPr>
            <a:r>
              <a:rPr sz="950" b="1">
                <a:solidFill>
                  <a:srgbClr val="FAF5EE"/>
                </a:solidFill>
                <a:latin typeface="Calibri"/>
              </a:rPr>
              <a:t>Segera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798064" y="2944368"/>
            <a:ext cx="832104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2A1D14"/>
                </a:solidFill>
                <a:latin typeface="Calibri"/>
              </a:rPr>
              <a:t>Memperbarui panduan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798064" y="3310128"/>
            <a:ext cx="832104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 b="0" i="0">
                <a:solidFill>
                  <a:srgbClr val="4A382B"/>
                </a:solidFill>
                <a:latin typeface="Calibri"/>
              </a:rPr>
              <a:t>Dokumen di dalam proyek masih menyebut beberapa fitur sebagai rencana, padahal sudah jadi. Perlu disamakan dengan keadaan sebenarnya.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41248" y="3931920"/>
            <a:ext cx="10515600" cy="1042415"/>
          </a:xfrm>
          <a:prstGeom prst="roundRect">
            <a:avLst/>
          </a:prstGeom>
          <a:solidFill>
            <a:srgbClr val="FFFDF9"/>
          </a:solidFill>
          <a:ln w="12700">
            <a:solidFill>
              <a:srgbClr val="E4DC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lnSpc>
                <a:spcPct val="100000"/>
              </a:lnSpc>
            </a:pPr>
            <a:r>
              <a:rPr sz="1400" b="0">
                <a:solidFill>
                  <a:srgbClr val="4A382B"/>
                </a:solidFill>
                <a:latin typeface="Calibri"/>
              </a:rPr>
              <a:t/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42415" y="4096512"/>
            <a:ext cx="1554480" cy="310896"/>
          </a:xfrm>
          <a:prstGeom prst="roundRect">
            <a:avLst/>
          </a:prstGeom>
          <a:solidFill>
            <a:srgbClr val="D9CC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lnSpc>
                <a:spcPct val="100000"/>
              </a:lnSpc>
            </a:pPr>
            <a:r>
              <a:rPr sz="950" b="1">
                <a:solidFill>
                  <a:srgbClr val="FAF5EE"/>
                </a:solidFill>
                <a:latin typeface="Calibri"/>
              </a:rPr>
              <a:t>Sebelum rilis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798064" y="4078224"/>
            <a:ext cx="832104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2A1D14"/>
                </a:solidFill>
                <a:latin typeface="Calibri"/>
              </a:rPr>
              <a:t>Menyiapkan alamat produksi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798064" y="4443984"/>
            <a:ext cx="832104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 b="0" i="0">
                <a:solidFill>
                  <a:srgbClr val="4A382B"/>
                </a:solidFill>
                <a:latin typeface="Calibri"/>
              </a:rPr>
              <a:t>Mengatur alamat resmi aplikasi pada layanan autentikasi agar pengalihan setelah masuk berjalan benar.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41248" y="5065776"/>
            <a:ext cx="10515600" cy="1042415"/>
          </a:xfrm>
          <a:prstGeom prst="roundRect">
            <a:avLst/>
          </a:prstGeom>
          <a:solidFill>
            <a:srgbClr val="FFFDF9"/>
          </a:solidFill>
          <a:ln w="12700">
            <a:solidFill>
              <a:srgbClr val="E4DC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lnSpc>
                <a:spcPct val="100000"/>
              </a:lnSpc>
            </a:pPr>
            <a:r>
              <a:rPr sz="1400" b="0">
                <a:solidFill>
                  <a:srgbClr val="4A382B"/>
                </a:solidFill>
                <a:latin typeface="Calibri"/>
              </a:rPr>
              <a:t/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1042415" y="5230368"/>
            <a:ext cx="1554480" cy="310896"/>
          </a:xfrm>
          <a:prstGeom prst="roundRect">
            <a:avLst/>
          </a:prstGeom>
          <a:solidFill>
            <a:srgbClr val="839A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lnSpc>
                <a:spcPct val="100000"/>
              </a:lnSpc>
            </a:pPr>
            <a:r>
              <a:rPr sz="950" b="1">
                <a:solidFill>
                  <a:srgbClr val="FAF5EE"/>
                </a:solidFill>
                <a:latin typeface="Calibri"/>
              </a:rPr>
              <a:t>Setelah rilis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798064" y="5212080"/>
            <a:ext cx="832104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2A1D14"/>
                </a:solidFill>
                <a:latin typeface="Calibri"/>
              </a:rPr>
              <a:t>Uji coba di kedai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798064" y="5577840"/>
            <a:ext cx="832104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 b="0" i="0">
                <a:solidFill>
                  <a:srgbClr val="4A382B"/>
                </a:solidFill>
                <a:latin typeface="Calibri"/>
              </a:rPr>
              <a:t>Memakai aplikasi pada satu shift sungguhan untuk melihat hambatan yang tidak terlihat saat pengujian.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5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148840"/>
            <a:ext cx="12191695" cy="2560320"/>
          </a:xfrm>
          <a:prstGeom prst="rect">
            <a:avLst/>
          </a:prstGeom>
          <a:solidFill>
            <a:srgbClr val="2A1D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41248" y="2606040"/>
            <a:ext cx="82296" cy="731520"/>
          </a:xfrm>
          <a:prstGeom prst="rect">
            <a:avLst/>
          </a:prstGeom>
          <a:solidFill>
            <a:srgbClr val="C88F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15568" y="2542032"/>
            <a:ext cx="960120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FAF5EE"/>
                </a:solidFill>
                <a:latin typeface="Calibri"/>
              </a:rPr>
              <a:t>Terima kasih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5568" y="3200400"/>
            <a:ext cx="96012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0" i="0">
                <a:solidFill>
                  <a:srgbClr val="C88F7B"/>
                </a:solidFill>
                <a:latin typeface="Calibri"/>
              </a:rPr>
              <a:t>Kataloji CRM siap diuji bersama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5568" y="3703320"/>
            <a:ext cx="96012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 i="0">
                <a:solidFill>
                  <a:srgbClr val="C9BCB0"/>
                </a:solidFill>
                <a:latin typeface="Calibri"/>
              </a:rPr>
              <a:t>Silakan dicoba langsung, dan kami terbuka untuk masukan.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41248" y="5029200"/>
            <a:ext cx="10515600" cy="10972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40000"/>
              </a:lnSpc>
            </a:pPr>
            <a:r>
              <a:rPr sz="1200" b="0" i="0">
                <a:solidFill>
                  <a:srgbClr val="4A382B"/>
                </a:solidFill>
                <a:latin typeface="Calibri"/>
              </a:rPr>
              <a:t>Langkah pengujian untuk ketiga akun staf tersedia pada dokumen</a:t>
            </a:r>
          </a:p>
          <a:p>
            <a:pPr algn="ctr">
              <a:lnSpc>
                <a:spcPct val="140000"/>
              </a:lnSpc>
            </a:pPr>
            <a:r>
              <a:rPr sz="1200" b="0" i="0">
                <a:solidFill>
                  <a:srgbClr val="4A382B"/>
                </a:solidFill>
                <a:latin typeface="Calibri"/>
              </a:rPr>
              <a:t>PANDUAN_TESTING_STAF.md di dalam proyek, lengkap dengan daftar periksa</a:t>
            </a:r>
          </a:p>
          <a:p>
            <a:pPr algn="ctr">
              <a:lnSpc>
                <a:spcPct val="140000"/>
              </a:lnSpc>
            </a:pPr>
            <a:r>
              <a:rPr sz="1200" b="0" i="0">
                <a:solidFill>
                  <a:srgbClr val="4A382B"/>
                </a:solidFill>
                <a:latin typeface="Calibri"/>
              </a:rPr>
              <a:t>yang dapat diikuti sambil mencoba aplikasinya.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