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77840"/>
            <a:ext cx="12191695" cy="109728"/>
          </a:xfrm>
          <a:prstGeom prst="rect">
            <a:avLst/>
          </a:prstGeom>
          <a:solidFill>
            <a:srgbClr val="C9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777240"/>
            <a:ext cx="960120" cy="960120"/>
          </a:xfrm>
          <a:prstGeom prst="ellipse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96012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9A96B"/>
                </a:solidFill>
                <a:latin typeface="Segoe UI"/>
              </a:rPr>
              <a:t>KATALOJI 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Sistem Loyalitas &amp; Kasir</a:t>
            </a:r>
          </a:p>
          <a:p>
            <a:pPr algn="l">
              <a:lnSpc>
                <a:spcPct val="103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untuk Kedai Kopi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6D8CE"/>
                </a:solidFill>
                <a:latin typeface="Segoe UI"/>
              </a:rPr>
              <a:t>Catat transaksi, kumpulkan poin pelanggan, kirim promosi, dan awasi kas — satu aplikasi.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Penyusun        [nama penyusun]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722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Pembimbing   [nama pembimbing]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5961888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F3E7DE"/>
                </a:solidFill>
                <a:latin typeface="Segoe UI"/>
              </a:rPr>
              <a:t>Kerja Praktik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199632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F3E7DE"/>
                </a:solidFill>
                <a:latin typeface="Segoe UI"/>
              </a:rPr>
              <a:t>Sistem Informasi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A1D14"/>
                </a:solidFill>
                <a:latin typeface="Segoe UI"/>
              </a:rPr>
              <a:t>Apa yang dibahas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89888"/>
            <a:ext cx="1371600" cy="64008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E5D52"/>
                </a:solidFill>
                <a:latin typeface="Segoe UI"/>
              </a:rPr>
              <a:t>Alur presentasi, dari masalah sampai rencana lanjutan.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3611880" cy="132588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39112"/>
            <a:ext cx="82296" cy="1179576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2112264"/>
            <a:ext cx="384048" cy="384048"/>
          </a:xfrm>
          <a:prstGeom prst="ellipse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148840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11226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A1D14"/>
                </a:solidFill>
                <a:latin typeface="Segoe UI"/>
              </a:rPr>
              <a:t>Masalah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514600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A3B31"/>
                </a:solidFill>
                <a:latin typeface="Segoe UI"/>
              </a:rPr>
              <a:t>Pencatatan manual, poin tersebar, kas tidak terawasi.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7992" y="1965960"/>
            <a:ext cx="3611880" cy="132588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07992" y="2039112"/>
            <a:ext cx="82296" cy="1179576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09160" y="2112264"/>
            <a:ext cx="384048" cy="384048"/>
          </a:xfrm>
          <a:prstGeom prst="ellipse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148840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211226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A1D14"/>
                </a:solidFill>
                <a:latin typeface="Segoe UI"/>
              </a:rPr>
              <a:t>Solusi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2514600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A3B31"/>
                </a:solidFill>
                <a:latin typeface="Segoe UI"/>
              </a:rPr>
              <a:t>Kataloji CRM dan nilai utamanya untuk kedai.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75904" y="1965960"/>
            <a:ext cx="3611880" cy="132588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75904" y="2039112"/>
            <a:ext cx="82296" cy="1179576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77072" y="2112264"/>
            <a:ext cx="384048" cy="384048"/>
          </a:xfrm>
          <a:prstGeom prst="ellipse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2148840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11226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A1D14"/>
                </a:solidFill>
                <a:latin typeface="Segoe UI"/>
              </a:rPr>
              <a:t>Alur kerja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9136" y="2514600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A3B31"/>
                </a:solidFill>
                <a:latin typeface="Segoe UI"/>
              </a:rPr>
              <a:t>Transaksi, siklus poin, pelanggan, dan pemasaran.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566160"/>
            <a:ext cx="3611880" cy="132588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639312"/>
            <a:ext cx="82296" cy="1179576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1248" y="3712464"/>
            <a:ext cx="384048" cy="384048"/>
          </a:xfrm>
          <a:prstGeom prst="ellipse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49040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2" y="371246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A1D14"/>
                </a:solidFill>
                <a:latin typeface="Segoe UI"/>
              </a:rPr>
              <a:t>Hak akses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2" y="4114800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A3B31"/>
                </a:solidFill>
                <a:latin typeface="Segoe UI"/>
              </a:rPr>
              <a:t>Tiga peran dan batasnya masing-masing.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07992" y="3566160"/>
            <a:ext cx="3611880" cy="132588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07992" y="3639312"/>
            <a:ext cx="82296" cy="1179576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09160" y="3712464"/>
            <a:ext cx="384048" cy="384048"/>
          </a:xfrm>
          <a:prstGeom prst="ellipse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9160" y="3749040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21224" y="371246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A1D14"/>
                </a:solidFill>
                <a:latin typeface="Segoe UI"/>
              </a:rPr>
              <a:t>Teknikal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21224" y="4114800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A3B31"/>
                </a:solidFill>
                <a:latin typeface="Segoe UI"/>
              </a:rPr>
              <a:t>Arsitektur, keamanan, dan kualitas pengujian.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75904" y="3566160"/>
            <a:ext cx="3611880" cy="132588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75904" y="3639312"/>
            <a:ext cx="82296" cy="1179576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77072" y="3712464"/>
            <a:ext cx="384048" cy="384048"/>
          </a:xfrm>
          <a:prstGeom prst="ellipse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77072" y="3749040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89136" y="371246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A1D14"/>
                </a:solidFill>
                <a:latin typeface="Segoe UI"/>
              </a:rPr>
              <a:t>Lanjutan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89136" y="4114800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A3B31"/>
                </a:solidFill>
                <a:latin typeface="Segoe UI"/>
              </a:rPr>
              <a:t>Capaian dan rencana ke depan.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Kataloji CRM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A1D14"/>
                </a:solidFill>
                <a:latin typeface="Segoe UI"/>
              </a:rPr>
              <a:t>Masalah di kedai kopi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89888"/>
            <a:ext cx="1371600" cy="64008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E5D52"/>
                </a:solidFill>
                <a:latin typeface="Segoe UI"/>
              </a:rPr>
              <a:t>Tanpa sistem, pemilik dan kasir bekerja dengan cara yang rapuh.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5440680" cy="1874519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76272"/>
            <a:ext cx="82296" cy="1728215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2249424"/>
            <a:ext cx="384048" cy="384048"/>
          </a:xfrm>
          <a:prstGeom prst="ellipse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286000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24942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1D14"/>
                </a:solidFill>
                <a:latin typeface="Segoe UI"/>
              </a:rPr>
              <a:t>Poin ditulis di kertas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651760"/>
            <a:ext cx="5029200" cy="13258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A3B31"/>
                </a:solidFill>
                <a:latin typeface="Segoe UI"/>
              </a:rPr>
              <a:t>Kartu cap atau catatan kertas mudah hilang, tidak bisa dihitung ulang, dan tidak memberi alasan bagi pelanggan untuk kembali.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103120"/>
            <a:ext cx="5440680" cy="1874519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2176272"/>
            <a:ext cx="82296" cy="1728215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6248" y="2249424"/>
            <a:ext cx="384048" cy="384048"/>
          </a:xfrm>
          <a:prstGeom prst="ellipse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2286000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8312" y="224942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1D14"/>
                </a:solidFill>
                <a:latin typeface="Segoe UI"/>
              </a:rPr>
              <a:t>Tidak tahu siapa pelanggannya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8312" y="2651760"/>
            <a:ext cx="5029200" cy="13258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A3B31"/>
                </a:solidFill>
                <a:latin typeface="Segoe UI"/>
              </a:rPr>
              <a:t>Tidak ada catatan siapa yang sering datang, kapan ulang tahunnya, atau menu favoritnya. Promosi jadi menembak membabi buta.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33671"/>
            <a:ext cx="5440680" cy="1874519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306823"/>
            <a:ext cx="82296" cy="1728215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8" y="4379975"/>
            <a:ext cx="384048" cy="384048"/>
          </a:xfrm>
          <a:prstGeom prst="ellipse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416551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4379975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1D14"/>
                </a:solidFill>
                <a:latin typeface="Segoe UI"/>
              </a:rPr>
              <a:t>Kas tidak jelas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782311"/>
            <a:ext cx="5029200" cy="13258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A3B31"/>
                </a:solidFill>
                <a:latin typeface="Segoe UI"/>
              </a:rPr>
              <a:t>Setoran akhir hari mengandalkan ingatan. Siapa mencatat transaksi apa, dan berapa jumlahnya, sulit ditelusuri kalau ada selisih.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233671"/>
            <a:ext cx="5440680" cy="1874519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306823"/>
            <a:ext cx="82296" cy="1728215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56248" y="4379975"/>
            <a:ext cx="384048" cy="384048"/>
          </a:xfrm>
          <a:prstGeom prst="ellipse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6248" y="4416551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4379975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1D14"/>
                </a:solidFill>
                <a:latin typeface="Segoe UI"/>
              </a:rPr>
              <a:t>Akses tanpa batas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68312" y="4782311"/>
            <a:ext cx="5029200" cy="13258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A3B31"/>
                </a:solidFill>
                <a:latin typeface="Segoe UI"/>
              </a:rPr>
              <a:t>Semua orang memakai akun yang sama. Tidak ada pemisahan antara yang boleh mengubah data dan yang hanya boleh mencatat.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Kataloji CRM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SOLUSI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A1D14"/>
                </a:solidFill>
                <a:latin typeface="Segoe UI"/>
              </a:rPr>
              <a:t>Kataloji CRM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89888"/>
            <a:ext cx="1371600" cy="64008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E5D52"/>
                </a:solidFill>
                <a:latin typeface="Segoe UI"/>
              </a:rPr>
              <a:t>Satu aplikasi web yang menyatukan kasir, loyalitas, dan pemasaran.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3611880" cy="196596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30552"/>
            <a:ext cx="82296" cy="1819656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2203704"/>
            <a:ext cx="384048" cy="384048"/>
          </a:xfrm>
          <a:prstGeom prst="ellipse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240280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Rp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20370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A1D14"/>
                </a:solidFill>
                <a:latin typeface="Segoe UI"/>
              </a:rPr>
              <a:t>Kasir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606040"/>
            <a:ext cx="3200400" cy="1417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A3B31"/>
                </a:solidFill>
                <a:latin typeface="Segoe UI"/>
              </a:rPr>
              <a:t>Catat transaksi cepat dengan tombol nominal, diskon, dan penukaran poin. Nomor struk Majoo bisa dicantumkan.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7992" y="2057400"/>
            <a:ext cx="3611880" cy="196596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07992" y="2130552"/>
            <a:ext cx="82296" cy="1819656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09160" y="2203704"/>
            <a:ext cx="384048" cy="384048"/>
          </a:xfrm>
          <a:prstGeom prst="ellipse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240280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220370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A1D14"/>
                </a:solidFill>
                <a:latin typeface="Segoe UI"/>
              </a:rPr>
              <a:t>Loyalitas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2606040"/>
            <a:ext cx="3200400" cy="1417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A3B31"/>
                </a:solidFill>
                <a:latin typeface="Segoe UI"/>
              </a:rPr>
              <a:t>Poin otomatis masuk ke saldo pelanggan. Ada buku besar agar setiap poin bisa ditelusuri asal-usulnya.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75904" y="2057400"/>
            <a:ext cx="3611880" cy="196596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75904" y="2130552"/>
            <a:ext cx="82296" cy="1819656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77072" y="2203704"/>
            <a:ext cx="384048" cy="384048"/>
          </a:xfrm>
          <a:prstGeom prst="ellipse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2240280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20370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A1D14"/>
                </a:solidFill>
                <a:latin typeface="Segoe UI"/>
              </a:rPr>
              <a:t>Pemasaran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9136" y="2606040"/>
            <a:ext cx="3200400" cy="1417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A3B31"/>
                </a:solidFill>
                <a:latin typeface="Segoe UI"/>
              </a:rPr>
              <a:t>Kirim pesan WhatsApp massal lewat campaign, pantau hasilnya, dan baca analitik kedai.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" y="4379976"/>
            <a:ext cx="274320" cy="274320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398264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343400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A3B31"/>
                </a:solidFill>
                <a:latin typeface="Segoe UI"/>
              </a:rPr>
              <a:t>Tiga peran: Admin, Manager, Kasir</a:t>
            </a:r>
          </a:p>
        </p:txBody>
      </p:sp>
      <p:sp>
        <p:nvSpPr>
          <p:cNvPr id="28" name="Oval 27"/>
          <p:cNvSpPr/>
          <p:nvPr/>
        </p:nvSpPr>
        <p:spPr>
          <a:xfrm>
            <a:off x="4553712" y="4379976"/>
            <a:ext cx="274320" cy="274320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53712" y="4398264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9472" y="4343400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A3B31"/>
                </a:solidFill>
                <a:latin typeface="Segoe UI"/>
              </a:rPr>
              <a:t>Data tersimpan aman di cloud</a:t>
            </a:r>
          </a:p>
        </p:txBody>
      </p:sp>
      <p:sp>
        <p:nvSpPr>
          <p:cNvPr id="31" name="Oval 30"/>
          <p:cNvSpPr/>
          <p:nvPr/>
        </p:nvSpPr>
        <p:spPr>
          <a:xfrm>
            <a:off x="8421624" y="4379976"/>
            <a:ext cx="274320" cy="274320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21624" y="4398264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87384" y="4343400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A3B31"/>
                </a:solidFill>
                <a:latin typeface="Segoe UI"/>
              </a:rPr>
              <a:t>Bisa dibuka dari HP atau tablet kasir</a:t>
            </a:r>
          </a:p>
        </p:txBody>
      </p:sp>
      <p:sp>
        <p:nvSpPr>
          <p:cNvPr id="34" name="Oval 33"/>
          <p:cNvSpPr/>
          <p:nvPr/>
        </p:nvSpPr>
        <p:spPr>
          <a:xfrm>
            <a:off x="12289536" y="4379976"/>
            <a:ext cx="274320" cy="274320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289536" y="4398264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655296" y="4343400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A3B31"/>
                </a:solidFill>
                <a:latin typeface="Segoe UI"/>
              </a:rPr>
              <a:t>Poin tidak bisa dimanipulasi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Kataloji CRM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TEKNIKAL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A1D14"/>
                </a:solidFill>
                <a:latin typeface="Segoe UI"/>
              </a:rPr>
              <a:t>Arsitektur &amp; teknologi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89888"/>
            <a:ext cx="1371600" cy="64008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E5D52"/>
                </a:solidFill>
                <a:latin typeface="Segoe UI"/>
              </a:rPr>
              <a:t>Aplikasi web modern, satu basis kode, data di Supabase.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011680"/>
            <a:ext cx="9784080" cy="960120"/>
          </a:xfrm>
          <a:prstGeom prst="roundRect">
            <a:avLst>
              <a:gd name="adj" fmla="val 10000"/>
            </a:avLst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212140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Antarmuka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121408"/>
            <a:ext cx="70408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Segoe UI"/>
              </a:rPr>
              <a:t>React + Next.js (App Router), Tailwind CSS, komponen shadcn/ui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3182112"/>
            <a:ext cx="9784080" cy="960120"/>
          </a:xfrm>
          <a:prstGeom prst="roundRect">
            <a:avLst>
              <a:gd name="adj" fmla="val 10000"/>
            </a:avLst>
          </a:prstGeom>
          <a:solidFill>
            <a:srgbClr val="A9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329184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Logika &amp;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291840"/>
            <a:ext cx="70408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Segoe UI"/>
              </a:rPr>
              <a:t>Server actions + route handler, logika bisnis murni di src/lib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4352544"/>
            <a:ext cx="9784080" cy="960120"/>
          </a:xfrm>
          <a:prstGeom prst="roundRect">
            <a:avLst>
              <a:gd name="adj" fmla="val 10000"/>
            </a:avLst>
          </a:prstGeom>
          <a:solidFill>
            <a:srgbClr val="526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4462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Data &amp; 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4462272"/>
            <a:ext cx="70408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Segoe UI"/>
              </a:rPr>
              <a:t>Supabase (PostgreSQL) — autentikasi, basis data, Row Level Security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5532120"/>
            <a:ext cx="9784080" cy="77724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5669280"/>
            <a:ext cx="9235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1D14"/>
                </a:solidFill>
                <a:latin typeface="Segoe UI"/>
              </a:rPr>
              <a:t>Satu basis kode. </a:t>
            </a:r>
            <a:r>
              <a:rPr sz="1200" b="0">
                <a:solidFill>
                  <a:srgbClr val="4A3B31"/>
                </a:solidFill>
                <a:latin typeface="Segoe UI"/>
              </a:rPr>
              <a:t>Logika bisnis (poin, peran, validasi) ditulis sekali di src/lib dan diuji lewat 694 asersi, bukan tersebar di banyak berkas.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Kataloji CRM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591056" cy="310896"/>
          </a:xfrm>
          <a:prstGeom prst="roundRect">
            <a:avLst>
              <a:gd name="adj" fmla="val 50000"/>
            </a:avLst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59105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ALUR KERJA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A1D14"/>
                </a:solidFill>
                <a:latin typeface="Segoe UI"/>
              </a:rPr>
              <a:t>Alur transaksi kasir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89888"/>
            <a:ext cx="1371600" cy="64008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E5D52"/>
                </a:solidFill>
                <a:latin typeface="Segoe UI"/>
              </a:rPr>
              <a:t>Dari memilih pelanggan sampai poin masuk ke saldo.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5760720" cy="896112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231136"/>
            <a:ext cx="384048" cy="384048"/>
          </a:xfrm>
          <a:prstGeom prst="ellipse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258568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048256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1D14"/>
                </a:solidFill>
                <a:latin typeface="Segoe UI"/>
              </a:rPr>
              <a:t>Pilih pelanggan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35000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A3B31"/>
                </a:solidFill>
                <a:latin typeface="Segoe UI"/>
              </a:rPr>
              <a:t>Cari nama atau 3 digit akhir WhatsApp, atau buat pelanggan baru.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05256" y="2862072"/>
            <a:ext cx="237744" cy="182880"/>
          </a:xfrm>
          <a:prstGeom prst="downArrow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044952"/>
            <a:ext cx="5760720" cy="896112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6384" y="3310128"/>
            <a:ext cx="384048" cy="384048"/>
          </a:xfrm>
          <a:prstGeom prst="ellipse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337560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127248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1D14"/>
                </a:solidFill>
                <a:latin typeface="Segoe UI"/>
              </a:rPr>
              <a:t>Input tagihan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4290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A3B31"/>
                </a:solidFill>
                <a:latin typeface="Segoe UI"/>
              </a:rPr>
              <a:t>Tombol cepat +10rb…+100rb, atau ketik. Tambah diskon promo bila ada.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05256" y="3941064"/>
            <a:ext cx="237744" cy="182880"/>
          </a:xfrm>
          <a:prstGeom prst="downArrow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4123944"/>
            <a:ext cx="5760720" cy="896112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6384" y="4389120"/>
            <a:ext cx="384048" cy="384048"/>
          </a:xfrm>
          <a:prstGeom prst="ellipse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4416552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206240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1D14"/>
                </a:solidFill>
                <a:latin typeface="Segoe UI"/>
              </a:rPr>
              <a:t>Tukar poin (opsional)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50799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A3B31"/>
                </a:solidFill>
                <a:latin typeface="Segoe UI"/>
              </a:rPr>
              <a:t>Minimal 5 poin, maksimal 100% tagihan. 1 poin = Rp 1.000.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905256" y="5020056"/>
            <a:ext cx="237744" cy="182880"/>
          </a:xfrm>
          <a:prstGeom prst="downArrow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5202936"/>
            <a:ext cx="5760720" cy="896112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6384" y="5468112"/>
            <a:ext cx="384048" cy="384048"/>
          </a:xfrm>
          <a:prstGeom prst="ellipse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5495544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5285232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1D14"/>
                </a:solidFill>
                <a:latin typeface="Segoe UI"/>
              </a:rPr>
              <a:t>Pratinjau &amp; simpan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558698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A3B31"/>
                </a:solidFill>
                <a:latin typeface="Segoe UI"/>
              </a:rPr>
              <a:t>Poin didapat, potongan, dan yang dibayar tampil sebelum disimpan.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20840" y="1965960"/>
            <a:ext cx="4892040" cy="3794760"/>
          </a:xfrm>
          <a:prstGeom prst="roundRect">
            <a:avLst>
              <a:gd name="adj" fmla="val 10000"/>
            </a:avLst>
          </a:prstGeom>
          <a:solidFill>
            <a:srgbClr val="FAF5EE"/>
          </a:solidFill>
          <a:ln w="15875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212140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1D14"/>
                </a:solidFill>
                <a:latin typeface="Segoe UI"/>
              </a:rPr>
              <a:t>Yang terjadi setelah Simpan</a:t>
            </a:r>
          </a:p>
        </p:txBody>
      </p:sp>
      <p:sp>
        <p:nvSpPr>
          <p:cNvPr id="32" name="Oval 31"/>
          <p:cNvSpPr/>
          <p:nvPr/>
        </p:nvSpPr>
        <p:spPr>
          <a:xfrm>
            <a:off x="7013448" y="2624328"/>
            <a:ext cx="256032" cy="256032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13448" y="2642616"/>
            <a:ext cx="25603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9208" y="2578608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1D14"/>
                </a:solidFill>
                <a:latin typeface="Segoe UI"/>
              </a:rPr>
              <a:t>Transaksi tersimpan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9208" y="2889504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3B31"/>
                </a:solidFill>
                <a:latin typeface="Segoe UI"/>
              </a:rPr>
              <a:t>beserta siapa pencatatnya, jumlah, dan poinnya.</a:t>
            </a:r>
          </a:p>
        </p:txBody>
      </p:sp>
      <p:sp>
        <p:nvSpPr>
          <p:cNvPr id="36" name="Oval 35"/>
          <p:cNvSpPr/>
          <p:nvPr/>
        </p:nvSpPr>
        <p:spPr>
          <a:xfrm>
            <a:off x="7013448" y="3584448"/>
            <a:ext cx="256032" cy="256032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13448" y="3602736"/>
            <a:ext cx="25603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79208" y="3538728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1D14"/>
                </a:solidFill>
                <a:latin typeface="Segoe UI"/>
              </a:rPr>
              <a:t>Poin masuk saldo pelanggan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79208" y="3849624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3B31"/>
                </a:solidFill>
                <a:latin typeface="Segoe UI"/>
              </a:rPr>
              <a:t>dan tercatat di buku besar sebagai earn.</a:t>
            </a:r>
          </a:p>
        </p:txBody>
      </p:sp>
      <p:sp>
        <p:nvSpPr>
          <p:cNvPr id="40" name="Oval 39"/>
          <p:cNvSpPr/>
          <p:nvPr/>
        </p:nvSpPr>
        <p:spPr>
          <a:xfrm>
            <a:off x="7013448" y="4544568"/>
            <a:ext cx="256032" cy="256032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13448" y="4562856"/>
            <a:ext cx="25603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79208" y="4498848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1D14"/>
                </a:solidFill>
                <a:latin typeface="Segoe UI"/>
              </a:rPr>
              <a:t>Nomor struk tersimpan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79208" y="4809744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3B31"/>
                </a:solidFill>
                <a:latin typeface="Segoe UI"/>
              </a:rPr>
              <a:t>bila diisi, sebagai rujukan struk Majoo.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Kataloji CRM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591056" cy="310896"/>
          </a:xfrm>
          <a:prstGeom prst="roundRect">
            <a:avLst>
              <a:gd name="adj" fmla="val 50000"/>
            </a:avLst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59105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ALUR KERJA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A1D14"/>
                </a:solidFill>
                <a:latin typeface="Segoe UI"/>
              </a:rPr>
              <a:t>Aturan poin (tepat)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89888"/>
            <a:ext cx="1371600" cy="64008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E5D52"/>
                </a:solidFill>
                <a:latin typeface="Segoe UI"/>
              </a:rPr>
              <a:t>Angka yang dipakai aplikasi, bukan perkiraan.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3611880" cy="210312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3611880" cy="109728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88F7B"/>
                </a:solidFill>
                <a:latin typeface="Segoe UI"/>
              </a:rPr>
              <a:t>1 poin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A1D14"/>
                </a:solidFill>
                <a:latin typeface="Segoe UI"/>
              </a:rPr>
              <a:t>per Rp 20.000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315468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A3B31"/>
                </a:solidFill>
                <a:latin typeface="Segoe UI"/>
              </a:rPr>
              <a:t>Dari total setelah diskon promo, sebelum potongan poin.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2011680"/>
            <a:ext cx="3611880" cy="210312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07992" y="2011680"/>
            <a:ext cx="3611880" cy="109728"/>
          </a:xfrm>
          <a:prstGeom prst="rect">
            <a:avLst/>
          </a:prstGeom>
          <a:solidFill>
            <a:srgbClr val="A88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2286000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A88648"/>
                </a:solidFill>
                <a:latin typeface="Segoe UI"/>
              </a:rPr>
              <a:t>1 poin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301752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A1D14"/>
                </a:solidFill>
                <a:latin typeface="Segoe UI"/>
              </a:rPr>
              <a:t>= Rp 1.000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3429000"/>
            <a:ext cx="315468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A3B31"/>
                </a:solidFill>
                <a:latin typeface="Segoe UI"/>
              </a:rPr>
              <a:t>Nilai poin saat ditukar memotong tagihan.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75904" y="2011680"/>
            <a:ext cx="3611880" cy="210312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75904" y="2011680"/>
            <a:ext cx="3611880" cy="109728"/>
          </a:xfrm>
          <a:prstGeom prst="rect">
            <a:avLst/>
          </a:prstGeom>
          <a:solidFill>
            <a:srgbClr val="8A5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04504" y="2286000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8A5745"/>
                </a:solidFill>
                <a:latin typeface="Segoe UI"/>
              </a:rPr>
              <a:t>5 poin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04504" y="301752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A1D14"/>
                </a:solidFill>
                <a:latin typeface="Segoe UI"/>
              </a:rPr>
              <a:t>minimum tukar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04504" y="3429000"/>
            <a:ext cx="315468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A3B31"/>
                </a:solidFill>
                <a:latin typeface="Segoe UI"/>
              </a:rPr>
              <a:t>Penukaran di bawah itu ditolak aplikasi.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352544"/>
            <a:ext cx="3611880" cy="210312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352544"/>
            <a:ext cx="3611880" cy="109728"/>
          </a:xfrm>
          <a:prstGeom prst="rect">
            <a:avLst/>
          </a:prstGeom>
          <a:solidFill>
            <a:srgbClr val="526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626864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526F59"/>
                </a:solidFill>
                <a:latin typeface="Segoe UI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358384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A1D14"/>
                </a:solidFill>
                <a:latin typeface="Segoe UI"/>
              </a:rPr>
              <a:t>batas atas tukar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769864"/>
            <a:ext cx="315468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A3B31"/>
                </a:solidFill>
                <a:latin typeface="Segoe UI"/>
              </a:rPr>
              <a:t>Potongan poin tidak boleh melebihi tagihan.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07992" y="4352544"/>
            <a:ext cx="3611880" cy="210312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07992" y="4352544"/>
            <a:ext cx="3611880" cy="109728"/>
          </a:xfrm>
          <a:prstGeom prst="rect">
            <a:avLst/>
          </a:prstGeom>
          <a:solidFill>
            <a:srgbClr val="B05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36592" y="4626864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B05E4B"/>
                </a:solidFill>
                <a:latin typeface="Segoe UI"/>
              </a:rPr>
              <a:t>12 bulan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6592" y="5358384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A1D14"/>
                </a:solidFill>
                <a:latin typeface="Segoe UI"/>
              </a:rPr>
              <a:t>masa berlaku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6592" y="5769864"/>
            <a:ext cx="315468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A3B31"/>
                </a:solidFill>
                <a:latin typeface="Segoe UI"/>
              </a:rPr>
              <a:t>Poin yang tidak dipakai akan hangus (expire).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Kataloji CRM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591056" cy="310896"/>
          </a:xfrm>
          <a:prstGeom prst="roundRect">
            <a:avLst>
              <a:gd name="adj" fmla="val 50000"/>
            </a:avLst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59105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ALUR KERJA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A1D14"/>
                </a:solidFill>
                <a:latin typeface="Segoe UI"/>
              </a:rPr>
              <a:t>Siklus hidup poin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89888"/>
            <a:ext cx="1371600" cy="64008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E5D52"/>
                </a:solidFill>
                <a:latin typeface="Segoe UI"/>
              </a:rPr>
              <a:t>Setiap perubahan saldo tercatat di buku besar dan bisa ditelusuri.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2606040" cy="1874519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2606040" cy="457200"/>
          </a:xfrm>
          <a:prstGeom prst="rect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66543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A1D14"/>
                </a:solidFill>
                <a:latin typeface="Segoe UI"/>
              </a:rPr>
              <a:t>Dapat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99232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4A3B31"/>
                </a:solidFill>
                <a:latin typeface="Segoe UI"/>
              </a:rPr>
              <a:t>Transaksi dengan pelanggan menambah saldo.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73552" y="2743200"/>
            <a:ext cx="265176" cy="237744"/>
          </a:xfrm>
          <a:prstGeom prst="rightArrow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66160" y="2011680"/>
            <a:ext cx="2606040" cy="1874519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2011680"/>
            <a:ext cx="2606040" cy="457200"/>
          </a:xfrm>
          <a:prstGeom prst="rect">
            <a:avLst/>
          </a:prstGeom>
          <a:solidFill>
            <a:srgbClr val="C9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066543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REDEEM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6060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A1D14"/>
                </a:solidFill>
                <a:latin typeface="Segoe UI"/>
              </a:rPr>
              <a:t>Tukar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999232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4A3B31"/>
                </a:solidFill>
                <a:latin typeface="Segoe UI"/>
              </a:rPr>
              <a:t>Dipakai memotong tagihan (min 5 poin).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199632" y="2743200"/>
            <a:ext cx="265176" cy="237744"/>
          </a:xfrm>
          <a:prstGeom prst="rightArrow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92240" y="2011680"/>
            <a:ext cx="2606040" cy="1874519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2240" y="2011680"/>
            <a:ext cx="2606040" cy="457200"/>
          </a:xfrm>
          <a:prstGeom prst="rect">
            <a:avLst/>
          </a:prstGeom>
          <a:solidFill>
            <a:srgbClr val="B05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66543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EXPIRE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6060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A1D14"/>
                </a:solidFill>
                <a:latin typeface="Segoe UI"/>
              </a:rPr>
              <a:t>Hangus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999232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4A3B31"/>
                </a:solidFill>
                <a:latin typeface="Segoe UI"/>
              </a:rPr>
              <a:t>Poin kedaluwarsa setelah 12 bulan.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125712" y="2743200"/>
            <a:ext cx="265176" cy="237744"/>
          </a:xfrm>
          <a:prstGeom prst="rightArrow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18320" y="2011680"/>
            <a:ext cx="2606040" cy="1874519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18320" y="2011680"/>
            <a:ext cx="2606040" cy="457200"/>
          </a:xfrm>
          <a:prstGeom prst="rect">
            <a:avLst/>
          </a:prstGeom>
          <a:solidFill>
            <a:srgbClr val="A9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2066543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ADJUST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26060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A1D14"/>
                </a:solidFill>
                <a:latin typeface="Segoe UI"/>
              </a:rPr>
              <a:t>Koreksi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2999232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4A3B31"/>
                </a:solidFill>
                <a:latin typeface="Segoe UI"/>
              </a:rPr>
              <a:t>Penyesuaian manual oleh yang berwenang.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297680"/>
            <a:ext cx="10927080" cy="1737360"/>
          </a:xfrm>
          <a:prstGeom prst="roundRect">
            <a:avLst>
              <a:gd name="adj" fmla="val 10000"/>
            </a:avLst>
          </a:prstGeom>
          <a:solidFill>
            <a:srgbClr val="FAF5EE"/>
          </a:solidFill>
          <a:ln w="15875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480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1D14"/>
                </a:solidFill>
                <a:latin typeface="Segoe UI"/>
              </a:rPr>
              <a:t>Buku besar (point_ledger)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89204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A3B31"/>
                </a:solidFill>
                <a:latin typeface="Segoe UI"/>
              </a:rPr>
              <a:t>Setiap baris menyimpan jenis (earn/redeem/expire/adjust), jumlah, dan sisa saldo. Hanya earn dan adjust yang menambah saldo; redeem dan expire menguranginya. Dengan begitu, saldo pelanggan mana pun bisa dihitung ulang baris demi baris.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Kataloji CRM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591056" cy="310896"/>
          </a:xfrm>
          <a:prstGeom prst="roundRect">
            <a:avLst>
              <a:gd name="adj" fmla="val 50000"/>
            </a:avLst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59105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ALUR KERJA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A1D14"/>
                </a:solidFill>
                <a:latin typeface="Segoe UI"/>
              </a:rPr>
              <a:t>Kelola pelanggan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89888"/>
            <a:ext cx="1371600" cy="64008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E5D52"/>
                </a:solidFill>
                <a:latin typeface="Segoe UI"/>
              </a:rPr>
              <a:t>Basis data pelanggan lengkap dengan riwayat dan segmen.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440680" cy="1874519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84832"/>
            <a:ext cx="82296" cy="1728215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15798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1D14"/>
                </a:solidFill>
                <a:latin typeface="Segoe UI"/>
              </a:rPr>
              <a:t>Profil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560320"/>
            <a:ext cx="5029200" cy="13258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A3B31"/>
                </a:solidFill>
                <a:latin typeface="Segoe UI"/>
              </a:rPr>
              <a:t>Nama, nomor WhatsApp (dinormalisasi otomatis 08→+62), dan tanggal lahir untuk ucapan ulang tahun.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011680"/>
            <a:ext cx="5440680" cy="1874519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2084832"/>
            <a:ext cx="82296" cy="1728215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215798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1D14"/>
                </a:solidFill>
                <a:latin typeface="Segoe UI"/>
              </a:rPr>
              <a:t>Riwayat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4536" y="2560320"/>
            <a:ext cx="5029200" cy="13258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A3B31"/>
                </a:solidFill>
                <a:latin typeface="Segoe UI"/>
              </a:rPr>
              <a:t>Kunjungan, transaksi, dan saldo poin tampil per pelanggan. Satu kali ketuk langsung chat via WhatsApp.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23943"/>
            <a:ext cx="5440680" cy="1874519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197095"/>
            <a:ext cx="82296" cy="1728215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4270247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1D14"/>
                </a:solidFill>
                <a:latin typeface="Segoe UI"/>
              </a:rPr>
              <a:t>Arsipkan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672583"/>
            <a:ext cx="5029200" cy="13258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A3B31"/>
                </a:solidFill>
                <a:latin typeface="Segoe UI"/>
              </a:rPr>
              <a:t>Pelanggan yang tidak aktif bisa diarsipkan tanpa menghapus riwayat dan poinnya. Bisa dikembalikan kapan saja.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123943"/>
            <a:ext cx="5440680" cy="1874519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4197095"/>
            <a:ext cx="82296" cy="1728215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74536" y="4270247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1D14"/>
                </a:solidFill>
                <a:latin typeface="Segoe UI"/>
              </a:rPr>
              <a:t>Segmen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4536" y="4672583"/>
            <a:ext cx="5029200" cy="13258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A3B31"/>
                </a:solidFill>
                <a:latin typeface="Segoe UI"/>
              </a:rPr>
              <a:t>Pengelompokan otomatis: belum transaksi, perlu disapa, ulang tahun bulan ini — untuk sasaran promosi.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Kataloji CRM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591056" cy="310896"/>
          </a:xfrm>
          <a:prstGeom prst="roundRect">
            <a:avLst>
              <a:gd name="adj" fmla="val 50000"/>
            </a:avLst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59105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ALUR KERJA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A1D14"/>
                </a:solidFill>
                <a:latin typeface="Segoe UI"/>
              </a:rPr>
              <a:t>Pemasaran (campaign)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89888"/>
            <a:ext cx="1371600" cy="64008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E5D52"/>
                </a:solidFill>
                <a:latin typeface="Segoe UI"/>
              </a:rPr>
              <a:t>Kirim pesan promosi yang tepat sasaran, bukan menyebar ke semua.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2578608" cy="182880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00784" y="2350008"/>
            <a:ext cx="457200" cy="457200"/>
          </a:xfrm>
          <a:prstGeom prst="ellipse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00784" y="2404872"/>
            <a:ext cx="457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0088"/>
            <a:ext cx="239572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A1D14"/>
                </a:solidFill>
                <a:latin typeface="Segoe UI"/>
              </a:rPr>
              <a:t>Pilih segmen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319272"/>
            <a:ext cx="2322576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2000"/>
              </a:lnSpc>
            </a:pPr>
            <a:r>
              <a:rPr sz="1000" b="0" i="0">
                <a:solidFill>
                  <a:srgbClr val="4A3B31"/>
                </a:solidFill>
                <a:latin typeface="Segoe UI"/>
              </a:rPr>
              <a:t>Pelanggan yang perlu disapa atau berulang tahun.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46120" y="2926080"/>
            <a:ext cx="256032" cy="237744"/>
          </a:xfrm>
          <a:prstGeom prst="rightArrow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29584" y="2148840"/>
            <a:ext cx="2578608" cy="182880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90288" y="2350008"/>
            <a:ext cx="457200" cy="457200"/>
          </a:xfrm>
          <a:prstGeom prst="ellipse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404872"/>
            <a:ext cx="457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2990088"/>
            <a:ext cx="239572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A1D14"/>
                </a:solidFill>
                <a:latin typeface="Segoe UI"/>
              </a:rPr>
              <a:t>Susun pesan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319272"/>
            <a:ext cx="2322576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2000"/>
              </a:lnSpc>
            </a:pPr>
            <a:r>
              <a:rPr sz="1000" b="0" i="0">
                <a:solidFill>
                  <a:srgbClr val="4A3B31"/>
                </a:solidFill>
                <a:latin typeface="Segoe UI"/>
              </a:rPr>
              <a:t>Teks promosi, boleh tanpa variabel.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135624" y="2926080"/>
            <a:ext cx="256032" cy="237744"/>
          </a:xfrm>
          <a:prstGeom prst="rightArrow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19088" y="2148840"/>
            <a:ext cx="2578608" cy="182880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79792" y="2350008"/>
            <a:ext cx="457200" cy="457200"/>
          </a:xfrm>
          <a:prstGeom prst="ellipse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9792" y="2404872"/>
            <a:ext cx="457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2990088"/>
            <a:ext cx="239572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A1D14"/>
                </a:solidFill>
                <a:latin typeface="Segoe UI"/>
              </a:rPr>
              <a:t>Kirim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3319272"/>
            <a:ext cx="2322576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2000"/>
              </a:lnSpc>
            </a:pPr>
            <a:r>
              <a:rPr sz="1000" b="0" i="0">
                <a:solidFill>
                  <a:srgbClr val="4A3B31"/>
                </a:solidFill>
                <a:latin typeface="Segoe UI"/>
              </a:rPr>
              <a:t>Dikirim lewat WhatsApp tiap pelanggan.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025128" y="2926080"/>
            <a:ext cx="256032" cy="237744"/>
          </a:xfrm>
          <a:prstGeom prst="rightArrow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08592" y="2148840"/>
            <a:ext cx="2578608" cy="182880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69296" y="2350008"/>
            <a:ext cx="457200" cy="457200"/>
          </a:xfrm>
          <a:prstGeom prst="ellipse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69296" y="2404872"/>
            <a:ext cx="457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2990088"/>
            <a:ext cx="239572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A1D14"/>
                </a:solidFill>
                <a:latin typeface="Segoe UI"/>
              </a:rPr>
              <a:t>Pantau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6608" y="3319272"/>
            <a:ext cx="2322576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2000"/>
              </a:lnSpc>
            </a:pPr>
            <a:r>
              <a:rPr sz="1000" b="0" i="0">
                <a:solidFill>
                  <a:srgbClr val="4A3B31"/>
                </a:solidFill>
                <a:latin typeface="Segoe UI"/>
              </a:rPr>
              <a:t>Berapa terkirim dan berapa yang datang kembali.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343400"/>
            <a:ext cx="10927080" cy="1554480"/>
          </a:xfrm>
          <a:prstGeom prst="roundRect">
            <a:avLst>
              <a:gd name="adj" fmla="val 10000"/>
            </a:avLst>
          </a:prstGeom>
          <a:solidFill>
            <a:srgbClr val="FAF5EE"/>
          </a:solidFill>
          <a:ln w="15875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52628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A1D14"/>
                </a:solidFill>
                <a:latin typeface="Segoe UI"/>
              </a:rPr>
              <a:t>Keputusan tingkat pengelola. </a:t>
            </a:r>
            <a:r>
              <a:rPr sz="1150" b="0">
                <a:solidFill>
                  <a:srgbClr val="4A3B31"/>
                </a:solidFill>
                <a:latin typeface="Segoe UI"/>
              </a:rPr>
              <a:t>Menu Campaign dan Analitik sengaja tidak tampil untuk kasir — bukan soal kerahasiaan, tetapi karena mengirim promosi bukan keputusan yang diambil di tengah melayani antrean. Hanya Admin dan Manager yang melihatnya.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Kataloji CRM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591056" cy="310896"/>
          </a:xfrm>
          <a:prstGeom prst="roundRect">
            <a:avLst>
              <a:gd name="adj" fmla="val 50000"/>
            </a:avLst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59105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ALUR KERJA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A1D14"/>
                </a:solidFill>
                <a:latin typeface="Segoe UI"/>
              </a:rPr>
              <a:t>Analitik &amp; rekap kasir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89888"/>
            <a:ext cx="1371600" cy="64008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E5D52"/>
                </a:solidFill>
                <a:latin typeface="Segoe UI"/>
              </a:rPr>
              <a:t>Memantau kedai dan pertanggungjawaban kas.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611880" cy="329184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76272"/>
            <a:ext cx="82296" cy="3145536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24942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1D14"/>
                </a:solidFill>
                <a:latin typeface="Segoe UI"/>
              </a:rPr>
              <a:t>Analitik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51760"/>
            <a:ext cx="320040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A3B31"/>
                </a:solidFill>
                <a:latin typeface="Segoe UI"/>
              </a:rPr>
              <a:t>Omzet per periode (hari/3/7/30 hari atau rentang), grafik omzet, jam ramai, dan papan loyalitas. Semua angka ringkas di satu layar.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2103120"/>
            <a:ext cx="3611880" cy="329184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07992" y="2176272"/>
            <a:ext cx="82296" cy="3145536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24942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1D14"/>
                </a:solidFill>
                <a:latin typeface="Segoe UI"/>
              </a:rPr>
              <a:t>Rekap kasir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651760"/>
            <a:ext cx="320040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A3B31"/>
                </a:solidFill>
                <a:latin typeface="Segoe UI"/>
              </a:rPr>
              <a:t>Siapa mencatat transaksi apa, per periode. Dipakai untuk menelusuri selisih kas dan pertanggungjawaban antar staf.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75904" y="2103120"/>
            <a:ext cx="3611880" cy="329184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75904" y="2176272"/>
            <a:ext cx="82296" cy="3145536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24942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1D14"/>
                </a:solidFill>
                <a:latin typeface="Segoe UI"/>
              </a:rPr>
              <a:t>Pembukuan poin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51760"/>
            <a:ext cx="320040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A3B31"/>
                </a:solidFill>
                <a:latin typeface="Segoe UI"/>
              </a:rPr>
              <a:t>Pemeriksaan otomatis memastikan saldo poin di buku besar selalu sama dengan total yang seharusnya. Kalau ada selisih, langsung ketahuan.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Kataloji CRM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444752" cy="310896"/>
          </a:xfrm>
          <a:prstGeom prst="roundRect">
            <a:avLst>
              <a:gd name="adj" fmla="val 50000"/>
            </a:avLst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HAK AKSES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A1D14"/>
                </a:solidFill>
                <a:latin typeface="Segoe UI"/>
              </a:rPr>
              <a:t>Tiga peran di Kataloji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89888"/>
            <a:ext cx="1371600" cy="64008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E5D52"/>
                </a:solidFill>
                <a:latin typeface="Segoe UI"/>
              </a:rPr>
              <a:t>Setiap staf masuk dengan akunnya sendiri; menu dan izin mengikuti perannya.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84831"/>
            <a:ext cx="3611880" cy="411480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84831"/>
            <a:ext cx="3611880" cy="118872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27832" y="2395727"/>
            <a:ext cx="676656" cy="676656"/>
          </a:xfrm>
          <a:prstGeom prst="ellipse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27832" y="2505455"/>
            <a:ext cx="676656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3108959"/>
            <a:ext cx="6766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5D52"/>
                </a:solidFill>
                <a:latin typeface="Segoe UI"/>
              </a:rPr>
              <a:t>menu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487167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C88F7B"/>
                </a:solidFill>
                <a:latin typeface="Segoe UI"/>
              </a:rPr>
              <a:t>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1"/>
            <a:ext cx="3099816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3B31"/>
                </a:solidFill>
                <a:latin typeface="Segoe UI"/>
              </a:rPr>
              <a:t>Pemilik atau pengelola kedai. Akses penuh ke seluruh sistem.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" y="4297679"/>
            <a:ext cx="3099816" cy="12801"/>
          </a:xfrm>
          <a:prstGeom prst="rect">
            <a:avLst/>
          </a:prstGeom>
          <a:solidFill>
            <a:srgbClr val="E9D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425695"/>
            <a:ext cx="309981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E5D52"/>
                </a:solidFill>
                <a:latin typeface="Segoe UI"/>
              </a:rPr>
              <a:t>Yang boleh dilakukan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791455"/>
            <a:ext cx="256032" cy="256032"/>
          </a:xfrm>
          <a:prstGeom prst="ellipse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09743"/>
            <a:ext cx="25603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754879"/>
            <a:ext cx="2679192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3B31"/>
                </a:solidFill>
                <a:latin typeface="Segoe UI"/>
              </a:rPr>
              <a:t>Semua yang bisa Manager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5266943"/>
            <a:ext cx="256032" cy="256032"/>
          </a:xfrm>
          <a:prstGeom prst="ellipse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85231"/>
            <a:ext cx="25603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230367"/>
            <a:ext cx="2679192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3B31"/>
                </a:solidFill>
                <a:latin typeface="Segoe UI"/>
              </a:rPr>
              <a:t>Kelola akun staf dan perannya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5742431"/>
            <a:ext cx="256032" cy="256032"/>
          </a:xfrm>
          <a:prstGeom prst="ellipse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760719"/>
            <a:ext cx="25603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705855"/>
            <a:ext cx="2679192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3B31"/>
                </a:solidFill>
                <a:latin typeface="Segoe UI"/>
              </a:rPr>
              <a:t>Ubah pengaturan sistem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07992" y="2084831"/>
            <a:ext cx="3611880" cy="411480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07992" y="2084831"/>
            <a:ext cx="3611880" cy="118872"/>
          </a:xfrm>
          <a:prstGeom prst="rect">
            <a:avLst/>
          </a:prstGeom>
          <a:solidFill>
            <a:srgbClr val="A88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95744" y="2395727"/>
            <a:ext cx="676656" cy="676656"/>
          </a:xfrm>
          <a:prstGeom prst="ellipse">
            <a:avLst/>
          </a:prstGeom>
          <a:solidFill>
            <a:srgbClr val="A88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95744" y="2505455"/>
            <a:ext cx="676656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5744" y="3108959"/>
            <a:ext cx="6766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5D52"/>
                </a:solidFill>
                <a:latin typeface="Segoe UI"/>
              </a:rPr>
              <a:t>menu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4024" y="2487167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A88648"/>
                </a:solidFill>
                <a:latin typeface="Segoe UI"/>
              </a:rPr>
              <a:t>Manager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4024" y="3456431"/>
            <a:ext cx="3099816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3B31"/>
                </a:solidFill>
                <a:latin typeface="Segoe UI"/>
              </a:rPr>
              <a:t>Kepala shift. Mengatur data dan pemasaran, tanpa menyentuh akun.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64024" y="4297679"/>
            <a:ext cx="3099816" cy="12801"/>
          </a:xfrm>
          <a:prstGeom prst="rect">
            <a:avLst/>
          </a:prstGeom>
          <a:solidFill>
            <a:srgbClr val="E9D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64024" y="4425695"/>
            <a:ext cx="309981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E5D52"/>
                </a:solidFill>
                <a:latin typeface="Segoe UI"/>
              </a:rPr>
              <a:t>Yang boleh dilakukan</a:t>
            </a:r>
          </a:p>
        </p:txBody>
      </p:sp>
      <p:sp>
        <p:nvSpPr>
          <p:cNvPr id="34" name="Oval 33"/>
          <p:cNvSpPr/>
          <p:nvPr/>
        </p:nvSpPr>
        <p:spPr>
          <a:xfrm>
            <a:off x="4782312" y="4791455"/>
            <a:ext cx="256032" cy="256032"/>
          </a:xfrm>
          <a:prstGeom prst="ellipse">
            <a:avLst/>
          </a:prstGeom>
          <a:solidFill>
            <a:srgbClr val="A88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82312" y="4809743"/>
            <a:ext cx="25603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48072" y="4754879"/>
            <a:ext cx="2679192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3B31"/>
                </a:solidFill>
                <a:latin typeface="Segoe UI"/>
              </a:rPr>
              <a:t>Semua yang bisa Kasir</a:t>
            </a:r>
          </a:p>
        </p:txBody>
      </p:sp>
      <p:sp>
        <p:nvSpPr>
          <p:cNvPr id="37" name="Oval 36"/>
          <p:cNvSpPr/>
          <p:nvPr/>
        </p:nvSpPr>
        <p:spPr>
          <a:xfrm>
            <a:off x="4782312" y="5266943"/>
            <a:ext cx="256032" cy="256032"/>
          </a:xfrm>
          <a:prstGeom prst="ellipse">
            <a:avLst/>
          </a:prstGeom>
          <a:solidFill>
            <a:srgbClr val="A88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82312" y="5285231"/>
            <a:ext cx="25603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48072" y="5230367"/>
            <a:ext cx="2679192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3B31"/>
                </a:solidFill>
                <a:latin typeface="Segoe UI"/>
              </a:rPr>
              <a:t>Kirim campaign dan baca analitik</a:t>
            </a:r>
          </a:p>
        </p:txBody>
      </p:sp>
      <p:sp>
        <p:nvSpPr>
          <p:cNvPr id="40" name="Oval 39"/>
          <p:cNvSpPr/>
          <p:nvPr/>
        </p:nvSpPr>
        <p:spPr>
          <a:xfrm>
            <a:off x="4782312" y="5742431"/>
            <a:ext cx="256032" cy="256032"/>
          </a:xfrm>
          <a:prstGeom prst="ellipse">
            <a:avLst/>
          </a:prstGeom>
          <a:solidFill>
            <a:srgbClr val="A88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82312" y="5760719"/>
            <a:ext cx="25603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48072" y="5705855"/>
            <a:ext cx="2679192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3B31"/>
                </a:solidFill>
                <a:latin typeface="Segoe UI"/>
              </a:rPr>
              <a:t>Lihat rekap kinerja kasir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75904" y="2084831"/>
            <a:ext cx="3611880" cy="411480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375904" y="2084831"/>
            <a:ext cx="3611880" cy="118872"/>
          </a:xfrm>
          <a:prstGeom prst="rect">
            <a:avLst/>
          </a:prstGeom>
          <a:solidFill>
            <a:srgbClr val="526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63656" y="2395727"/>
            <a:ext cx="676656" cy="676656"/>
          </a:xfrm>
          <a:prstGeom prst="ellipse">
            <a:avLst/>
          </a:prstGeom>
          <a:solidFill>
            <a:srgbClr val="526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63656" y="2505455"/>
            <a:ext cx="676656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63656" y="3108959"/>
            <a:ext cx="6766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E5D52"/>
                </a:solidFill>
                <a:latin typeface="Segoe UI"/>
              </a:rPr>
              <a:t>menu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31936" y="2487167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526F59"/>
                </a:solidFill>
                <a:latin typeface="Segoe UI"/>
              </a:rPr>
              <a:t>Kasir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31936" y="3456431"/>
            <a:ext cx="3099816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A3B31"/>
                </a:solidFill>
                <a:latin typeface="Segoe UI"/>
              </a:rPr>
              <a:t>Petugas depan. Fokus melayani pelanggan di antrean.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31936" y="4297679"/>
            <a:ext cx="3099816" cy="12801"/>
          </a:xfrm>
          <a:prstGeom prst="rect">
            <a:avLst/>
          </a:prstGeom>
          <a:solidFill>
            <a:srgbClr val="E9D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31936" y="4425695"/>
            <a:ext cx="309981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E5D52"/>
                </a:solidFill>
                <a:latin typeface="Segoe UI"/>
              </a:rPr>
              <a:t>Yang boleh dilakukan</a:t>
            </a:r>
          </a:p>
        </p:txBody>
      </p:sp>
      <p:sp>
        <p:nvSpPr>
          <p:cNvPr id="52" name="Oval 51"/>
          <p:cNvSpPr/>
          <p:nvPr/>
        </p:nvSpPr>
        <p:spPr>
          <a:xfrm>
            <a:off x="8650224" y="4791455"/>
            <a:ext cx="256032" cy="256032"/>
          </a:xfrm>
          <a:prstGeom prst="ellipse">
            <a:avLst/>
          </a:prstGeom>
          <a:solidFill>
            <a:srgbClr val="526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50224" y="4809743"/>
            <a:ext cx="25603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15984" y="4754879"/>
            <a:ext cx="2679192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3B31"/>
                </a:solidFill>
                <a:latin typeface="Segoe UI"/>
              </a:rPr>
              <a:t>Catat transaksi dan poin</a:t>
            </a:r>
          </a:p>
        </p:txBody>
      </p:sp>
      <p:sp>
        <p:nvSpPr>
          <p:cNvPr id="55" name="Oval 54"/>
          <p:cNvSpPr/>
          <p:nvPr/>
        </p:nvSpPr>
        <p:spPr>
          <a:xfrm>
            <a:off x="8650224" y="5266943"/>
            <a:ext cx="256032" cy="256032"/>
          </a:xfrm>
          <a:prstGeom prst="ellipse">
            <a:avLst/>
          </a:prstGeom>
          <a:solidFill>
            <a:srgbClr val="526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50224" y="5285231"/>
            <a:ext cx="25603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15984" y="5230367"/>
            <a:ext cx="2679192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3B31"/>
                </a:solidFill>
                <a:latin typeface="Segoe UI"/>
              </a:rPr>
              <a:t>Tambah pelanggan baru</a:t>
            </a:r>
          </a:p>
        </p:txBody>
      </p:sp>
      <p:sp>
        <p:nvSpPr>
          <p:cNvPr id="58" name="Oval 57"/>
          <p:cNvSpPr/>
          <p:nvPr/>
        </p:nvSpPr>
        <p:spPr>
          <a:xfrm>
            <a:off x="8650224" y="5742431"/>
            <a:ext cx="256032" cy="256032"/>
          </a:xfrm>
          <a:prstGeom prst="ellipse">
            <a:avLst/>
          </a:prstGeom>
          <a:solidFill>
            <a:srgbClr val="526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50224" y="5760719"/>
            <a:ext cx="25603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15984" y="5705855"/>
            <a:ext cx="2679192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3B31"/>
                </a:solidFill>
                <a:latin typeface="Segoe UI"/>
              </a:rPr>
              <a:t>Tukar poin pelanggan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Kataloji CRM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444752" cy="310896"/>
          </a:xfrm>
          <a:prstGeom prst="roundRect">
            <a:avLst>
              <a:gd name="adj" fmla="val 50000"/>
            </a:avLst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HAK AKSES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A1D14"/>
                </a:solidFill>
                <a:latin typeface="Segoe UI"/>
              </a:rPr>
              <a:t>Matriks kemampuan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89888"/>
            <a:ext cx="1371600" cy="64008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E5D52"/>
                </a:solidFill>
                <a:latin typeface="Segoe UI"/>
              </a:rPr>
              <a:t>Rinciannya per kemampuan. Halaman yang ditolak tetap terkunci walau alamatnya diketik langsung.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79" y="1792224"/>
            <a:ext cx="2039112" cy="420624"/>
          </a:xfrm>
          <a:prstGeom prst="roundRect">
            <a:avLst>
              <a:gd name="adj" fmla="val 10000"/>
            </a:avLst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40679" y="1856231"/>
            <a:ext cx="203911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79792" y="1792224"/>
            <a:ext cx="2039112" cy="420624"/>
          </a:xfrm>
          <a:prstGeom prst="roundRect">
            <a:avLst>
              <a:gd name="adj" fmla="val 10000"/>
            </a:avLst>
          </a:prstGeom>
          <a:solidFill>
            <a:srgbClr val="A88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79792" y="1856231"/>
            <a:ext cx="203911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Manager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18904" y="1792224"/>
            <a:ext cx="2039112" cy="420624"/>
          </a:xfrm>
          <a:prstGeom prst="roundRect">
            <a:avLst>
              <a:gd name="adj" fmla="val 10000"/>
            </a:avLst>
          </a:prstGeom>
          <a:solidFill>
            <a:srgbClr val="526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18904" y="1856231"/>
            <a:ext cx="203911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Kasir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41448"/>
            <a:ext cx="11247120" cy="420624"/>
          </a:xfrm>
          <a:prstGeom prst="roundRect">
            <a:avLst>
              <a:gd name="adj" fmla="val 18000"/>
            </a:avLst>
          </a:prstGeom>
          <a:solidFill>
            <a:srgbClr val="F3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51176"/>
            <a:ext cx="4828032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A1D14"/>
                </a:solidFill>
                <a:latin typeface="Segoe UI"/>
              </a:rPr>
              <a:t>Catat transaksi dan poin</a:t>
            </a:r>
          </a:p>
        </p:txBody>
      </p:sp>
      <p:sp>
        <p:nvSpPr>
          <p:cNvPr id="15" name="Oval 14"/>
          <p:cNvSpPr/>
          <p:nvPr/>
        </p:nvSpPr>
        <p:spPr>
          <a:xfrm>
            <a:off x="6323076" y="2523744"/>
            <a:ext cx="274320" cy="274320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3076" y="2551176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7" name="Oval 16"/>
          <p:cNvSpPr/>
          <p:nvPr/>
        </p:nvSpPr>
        <p:spPr>
          <a:xfrm>
            <a:off x="8362188" y="2523744"/>
            <a:ext cx="274320" cy="274320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2188" y="2551176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9" name="Oval 18"/>
          <p:cNvSpPr/>
          <p:nvPr/>
        </p:nvSpPr>
        <p:spPr>
          <a:xfrm>
            <a:off x="10401300" y="2523744"/>
            <a:ext cx="274320" cy="274320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01300" y="2551176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008376"/>
            <a:ext cx="4828032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A1D14"/>
                </a:solidFill>
                <a:latin typeface="Segoe UI"/>
              </a:rPr>
              <a:t>Tambah dan ubah data pelanggan</a:t>
            </a:r>
          </a:p>
        </p:txBody>
      </p:sp>
      <p:sp>
        <p:nvSpPr>
          <p:cNvPr id="22" name="Oval 21"/>
          <p:cNvSpPr/>
          <p:nvPr/>
        </p:nvSpPr>
        <p:spPr>
          <a:xfrm>
            <a:off x="6323076" y="2980944"/>
            <a:ext cx="274320" cy="274320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3076" y="3008376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4" name="Oval 23"/>
          <p:cNvSpPr/>
          <p:nvPr/>
        </p:nvSpPr>
        <p:spPr>
          <a:xfrm>
            <a:off x="8362188" y="2980944"/>
            <a:ext cx="274320" cy="274320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2188" y="3008376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6" name="Oval 25"/>
          <p:cNvSpPr/>
          <p:nvPr/>
        </p:nvSpPr>
        <p:spPr>
          <a:xfrm>
            <a:off x="10401300" y="2980944"/>
            <a:ext cx="274320" cy="274320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01300" y="3008376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355848"/>
            <a:ext cx="11247120" cy="420624"/>
          </a:xfrm>
          <a:prstGeom prst="roundRect">
            <a:avLst>
              <a:gd name="adj" fmla="val 18000"/>
            </a:avLst>
          </a:prstGeom>
          <a:solidFill>
            <a:srgbClr val="F3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465576"/>
            <a:ext cx="4828032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A1D14"/>
                </a:solidFill>
                <a:latin typeface="Segoe UI"/>
              </a:rPr>
              <a:t>Arsipkan dan kembalikan pelanggan</a:t>
            </a:r>
          </a:p>
        </p:txBody>
      </p:sp>
      <p:sp>
        <p:nvSpPr>
          <p:cNvPr id="30" name="Oval 29"/>
          <p:cNvSpPr/>
          <p:nvPr/>
        </p:nvSpPr>
        <p:spPr>
          <a:xfrm>
            <a:off x="6323076" y="3438144"/>
            <a:ext cx="274320" cy="274320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76" y="3465576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2" name="Oval 31"/>
          <p:cNvSpPr/>
          <p:nvPr/>
        </p:nvSpPr>
        <p:spPr>
          <a:xfrm>
            <a:off x="8362188" y="3438144"/>
            <a:ext cx="274320" cy="274320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2188" y="3465576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4" name="Oval 33"/>
          <p:cNvSpPr/>
          <p:nvPr/>
        </p:nvSpPr>
        <p:spPr>
          <a:xfrm>
            <a:off x="10401300" y="3438144"/>
            <a:ext cx="274320" cy="274320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01300" y="3465576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3922776"/>
            <a:ext cx="4828032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A1D14"/>
                </a:solidFill>
                <a:latin typeface="Segoe UI"/>
              </a:rPr>
              <a:t>Lihat dashboard dan analitik</a:t>
            </a:r>
          </a:p>
        </p:txBody>
      </p:sp>
      <p:sp>
        <p:nvSpPr>
          <p:cNvPr id="37" name="Oval 36"/>
          <p:cNvSpPr/>
          <p:nvPr/>
        </p:nvSpPr>
        <p:spPr>
          <a:xfrm>
            <a:off x="6323076" y="3895344"/>
            <a:ext cx="274320" cy="274320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3076" y="3922776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9" name="Oval 38"/>
          <p:cNvSpPr/>
          <p:nvPr/>
        </p:nvSpPr>
        <p:spPr>
          <a:xfrm>
            <a:off x="8362188" y="3895344"/>
            <a:ext cx="274320" cy="274320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2188" y="3922776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1" name="Oval 40"/>
          <p:cNvSpPr/>
          <p:nvPr/>
        </p:nvSpPr>
        <p:spPr>
          <a:xfrm>
            <a:off x="10401300" y="3895344"/>
            <a:ext cx="274320" cy="274320"/>
          </a:xfrm>
          <a:prstGeom prst="ellipse">
            <a:avLst/>
          </a:prstGeom>
          <a:solidFill>
            <a:srgbClr val="B05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01300" y="3922776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270248"/>
            <a:ext cx="11247120" cy="420624"/>
          </a:xfrm>
          <a:prstGeom prst="roundRect">
            <a:avLst>
              <a:gd name="adj" fmla="val 18000"/>
            </a:avLst>
          </a:prstGeom>
          <a:solidFill>
            <a:srgbClr val="F3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4379976"/>
            <a:ext cx="4828032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A1D14"/>
                </a:solidFill>
                <a:latin typeface="Segoe UI"/>
              </a:rPr>
              <a:t>Kirim campaign pemasaran</a:t>
            </a:r>
          </a:p>
        </p:txBody>
      </p:sp>
      <p:sp>
        <p:nvSpPr>
          <p:cNvPr id="45" name="Oval 44"/>
          <p:cNvSpPr/>
          <p:nvPr/>
        </p:nvSpPr>
        <p:spPr>
          <a:xfrm>
            <a:off x="6323076" y="4352544"/>
            <a:ext cx="274320" cy="274320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23076" y="4379976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7" name="Oval 46"/>
          <p:cNvSpPr/>
          <p:nvPr/>
        </p:nvSpPr>
        <p:spPr>
          <a:xfrm>
            <a:off x="8362188" y="4352544"/>
            <a:ext cx="274320" cy="274320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62188" y="4379976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9" name="Oval 48"/>
          <p:cNvSpPr/>
          <p:nvPr/>
        </p:nvSpPr>
        <p:spPr>
          <a:xfrm>
            <a:off x="10401300" y="4352544"/>
            <a:ext cx="274320" cy="274320"/>
          </a:xfrm>
          <a:prstGeom prst="ellipse">
            <a:avLst/>
          </a:prstGeom>
          <a:solidFill>
            <a:srgbClr val="B05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01300" y="4379976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4837176"/>
            <a:ext cx="4828032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A1D14"/>
                </a:solidFill>
                <a:latin typeface="Segoe UI"/>
              </a:rPr>
              <a:t>Lihat rekap kinerja kasir</a:t>
            </a:r>
          </a:p>
        </p:txBody>
      </p:sp>
      <p:sp>
        <p:nvSpPr>
          <p:cNvPr id="52" name="Oval 51"/>
          <p:cNvSpPr/>
          <p:nvPr/>
        </p:nvSpPr>
        <p:spPr>
          <a:xfrm>
            <a:off x="6323076" y="4809744"/>
            <a:ext cx="274320" cy="274320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23076" y="4837176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4" name="Oval 53"/>
          <p:cNvSpPr/>
          <p:nvPr/>
        </p:nvSpPr>
        <p:spPr>
          <a:xfrm>
            <a:off x="8362188" y="4809744"/>
            <a:ext cx="274320" cy="274320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62188" y="4837176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6" name="Oval 55"/>
          <p:cNvSpPr/>
          <p:nvPr/>
        </p:nvSpPr>
        <p:spPr>
          <a:xfrm>
            <a:off x="10401300" y="4809744"/>
            <a:ext cx="274320" cy="274320"/>
          </a:xfrm>
          <a:prstGeom prst="ellipse">
            <a:avLst/>
          </a:prstGeom>
          <a:solidFill>
            <a:srgbClr val="B05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01300" y="4837176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5184648"/>
            <a:ext cx="11247120" cy="420624"/>
          </a:xfrm>
          <a:prstGeom prst="roundRect">
            <a:avLst>
              <a:gd name="adj" fmla="val 18000"/>
            </a:avLst>
          </a:prstGeom>
          <a:solidFill>
            <a:srgbClr val="F3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8368" y="5294376"/>
            <a:ext cx="4828032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A1D14"/>
                </a:solidFill>
                <a:latin typeface="Segoe UI"/>
              </a:rPr>
              <a:t>Kelola akun staf</a:t>
            </a:r>
          </a:p>
        </p:txBody>
      </p:sp>
      <p:sp>
        <p:nvSpPr>
          <p:cNvPr id="60" name="Oval 59"/>
          <p:cNvSpPr/>
          <p:nvPr/>
        </p:nvSpPr>
        <p:spPr>
          <a:xfrm>
            <a:off x="6323076" y="5266944"/>
            <a:ext cx="274320" cy="274320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23076" y="5294376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62" name="Oval 61"/>
          <p:cNvSpPr/>
          <p:nvPr/>
        </p:nvSpPr>
        <p:spPr>
          <a:xfrm>
            <a:off x="8362188" y="5266944"/>
            <a:ext cx="274320" cy="274320"/>
          </a:xfrm>
          <a:prstGeom prst="ellipse">
            <a:avLst/>
          </a:prstGeom>
          <a:solidFill>
            <a:srgbClr val="B05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62188" y="5294376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64" name="Oval 63"/>
          <p:cNvSpPr/>
          <p:nvPr/>
        </p:nvSpPr>
        <p:spPr>
          <a:xfrm>
            <a:off x="10401300" y="5266944"/>
            <a:ext cx="274320" cy="274320"/>
          </a:xfrm>
          <a:prstGeom prst="ellipse">
            <a:avLst/>
          </a:prstGeom>
          <a:solidFill>
            <a:srgbClr val="B05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401300" y="5294376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" y="5751576"/>
            <a:ext cx="4828032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A1D14"/>
                </a:solidFill>
                <a:latin typeface="Segoe UI"/>
              </a:rPr>
              <a:t>Ubah pengaturan sistem</a:t>
            </a:r>
          </a:p>
        </p:txBody>
      </p:sp>
      <p:sp>
        <p:nvSpPr>
          <p:cNvPr id="67" name="Oval 66"/>
          <p:cNvSpPr/>
          <p:nvPr/>
        </p:nvSpPr>
        <p:spPr>
          <a:xfrm>
            <a:off x="6323076" y="5724144"/>
            <a:ext cx="274320" cy="274320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23076" y="5751576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69" name="Oval 68"/>
          <p:cNvSpPr/>
          <p:nvPr/>
        </p:nvSpPr>
        <p:spPr>
          <a:xfrm>
            <a:off x="8362188" y="5724144"/>
            <a:ext cx="274320" cy="274320"/>
          </a:xfrm>
          <a:prstGeom prst="ellipse">
            <a:avLst/>
          </a:prstGeom>
          <a:solidFill>
            <a:srgbClr val="B05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62188" y="5751576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71" name="Oval 70"/>
          <p:cNvSpPr/>
          <p:nvPr/>
        </p:nvSpPr>
        <p:spPr>
          <a:xfrm>
            <a:off x="10401300" y="5724144"/>
            <a:ext cx="274320" cy="274320"/>
          </a:xfrm>
          <a:prstGeom prst="ellipse">
            <a:avLst/>
          </a:prstGeom>
          <a:solidFill>
            <a:srgbClr val="B05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401300" y="5751576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Kataloji CRM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TEKNIKAL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A1D14"/>
                </a:solidFill>
                <a:latin typeface="Segoe UI"/>
              </a:rPr>
              <a:t>Keamanan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89888"/>
            <a:ext cx="1371600" cy="64008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E5D52"/>
                </a:solidFill>
                <a:latin typeface="Segoe UI"/>
              </a:rPr>
              <a:t>Data dilindungi berlapis, di antar muka maupun di basis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440680" cy="1572768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84832"/>
            <a:ext cx="82296" cy="1426464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15798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1D14"/>
                </a:solidFill>
                <a:latin typeface="Segoe UI"/>
              </a:rPr>
              <a:t>Autentikasi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560320"/>
            <a:ext cx="5029200" cy="10241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A3B31"/>
                </a:solidFill>
                <a:latin typeface="Segoe UI"/>
              </a:rPr>
              <a:t>Masuk lewat Supabase Auth. Kata sandi minimal 8 karakter memuat huruf dan angka; sesi dikelola server.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011680"/>
            <a:ext cx="5440680" cy="1572768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2084832"/>
            <a:ext cx="82296" cy="1426464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215798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1D14"/>
                </a:solidFill>
                <a:latin typeface="Segoe UI"/>
              </a:rPr>
              <a:t>Row Level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4536" y="2560320"/>
            <a:ext cx="5029200" cy="10241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A3B31"/>
                </a:solidFill>
                <a:latin typeface="Segoe UI"/>
              </a:rPr>
              <a:t>Basis data menolak akses yang tidak berhak, bukan hanya menyembunyikan menu. Penembusan lewat alamat tetap ditolak.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03904"/>
            <a:ext cx="5440680" cy="1572768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877056"/>
            <a:ext cx="82296" cy="1426464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95020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1D14"/>
                </a:solidFill>
                <a:latin typeface="Segoe UI"/>
              </a:rPr>
              <a:t>Penjaga izin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352544"/>
            <a:ext cx="5029200" cy="10241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A3B31"/>
                </a:solidFill>
                <a:latin typeface="Segoe UI"/>
              </a:rPr>
              <a:t>Setiap halaman memeriksa peran sebelum merender data. Halaman Staf hanya admin; Rekap kasir admin &amp; manager.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803904"/>
            <a:ext cx="5440680" cy="1572768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877056"/>
            <a:ext cx="82296" cy="1426464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74536" y="395020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1D14"/>
                </a:solidFill>
                <a:latin typeface="Segoe UI"/>
              </a:rPr>
              <a:t>Anti-kunci-diri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4536" y="4352544"/>
            <a:ext cx="5029200" cy="10241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A3B31"/>
                </a:solidFill>
                <a:latin typeface="Segoe UI"/>
              </a:rPr>
              <a:t>Admin tidak bisa menghapus atau menurunkan akunnya sendiri, supaya sistem tidak pernah kehilangan admin terakhir.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Kataloji CRM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TEKNIKAL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A1D14"/>
                </a:solidFill>
                <a:latin typeface="Segoe UI"/>
              </a:rPr>
              <a:t>Kualitas &amp; pengujian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89888"/>
            <a:ext cx="1371600" cy="64008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E5D52"/>
                </a:solidFill>
                <a:latin typeface="Segoe UI"/>
              </a:rPr>
              <a:t>Diuji otomatis dan manual, tiga peran, sebelum diserahkan.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2606040" cy="228600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C88F7B"/>
                </a:solidFill>
                <a:latin typeface="Segoe UI"/>
              </a:rPr>
              <a:t>694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A1D14"/>
                </a:solidFill>
                <a:latin typeface="Segoe UI"/>
              </a:rPr>
              <a:t>asersi otomatis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4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4A3B31"/>
                </a:solidFill>
                <a:latin typeface="Segoe UI"/>
              </a:rPr>
              <a:t>10 harness tsx — aturan poin, peran, validasi, saldo buku besar.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2103120"/>
            <a:ext cx="2606040" cy="228600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233172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C88F7B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3154680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A1D14"/>
                </a:solidFill>
                <a:latin typeface="Segoe UI"/>
              </a:rPr>
              <a:t>peran diuji manual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352044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4A3B31"/>
                </a:solidFill>
                <a:latin typeface="Segoe UI"/>
              </a:rPr>
              <a:t>Admin, Manager, Kasir — semua halaman dibuka dan dicoba.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64224" y="2103120"/>
            <a:ext cx="2606040" cy="228600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233172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C88F7B"/>
                </a:solidFill>
                <a:latin typeface="Segoe UI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3154680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A1D14"/>
                </a:solidFill>
                <a:latin typeface="Segoe UI"/>
              </a:rPr>
              <a:t>halaman lolos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352044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4A3B31"/>
                </a:solidFill>
                <a:latin typeface="Segoe UI"/>
              </a:rPr>
              <a:t>Build produksi bersih, tanpa galat tipe.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26296" y="2103120"/>
            <a:ext cx="2606040" cy="228600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26296" y="233172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C88F7B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3154680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A1D14"/>
                </a:solidFill>
                <a:latin typeface="Segoe UI"/>
              </a:rPr>
              <a:t>cacat diperbaiki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9176" y="352044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4A3B31"/>
                </a:solidFill>
                <a:latin typeface="Segoe UI"/>
              </a:rPr>
              <a:t>Ditemukan lewat pengujian manual, lalu ditutup.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09160"/>
            <a:ext cx="10927080" cy="1234440"/>
          </a:xfrm>
          <a:prstGeom prst="roundRect">
            <a:avLst>
              <a:gd name="adj" fmla="val 10000"/>
            </a:avLst>
          </a:prstGeom>
          <a:solidFill>
            <a:srgbClr val="FAF5EE"/>
          </a:solidFill>
          <a:ln w="15875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73752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A1D14"/>
                </a:solidFill>
                <a:latin typeface="Segoe UI"/>
              </a:rPr>
              <a:t>Metodologi jujur. </a:t>
            </a:r>
            <a:r>
              <a:rPr sz="1150" b="0">
                <a:solidFill>
                  <a:srgbClr val="4A3B31"/>
                </a:solidFill>
                <a:latin typeface="Segoe UI"/>
              </a:rPr>
              <a:t>Yang diuji manual benar-benar dijalankan di aplikasi hidup, bukan dari membaca kode. Empat cacat ditemukan lewat cara itu — salah satunya pesan penolakan yang menyebut "hanya untuk admin" padahal manager juga boleh masuk. Semua sudah diperbaiki.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Kataloji CRM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LANJUTAN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A1D14"/>
                </a:solidFill>
                <a:latin typeface="Segoe UI"/>
              </a:rPr>
              <a:t>Capaian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89888"/>
            <a:ext cx="1371600" cy="64008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E5D52"/>
                </a:solidFill>
                <a:latin typeface="Segoe UI"/>
              </a:rPr>
              <a:t>Yang sudah selesai dan siap dipakai.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048256"/>
            <a:ext cx="292608" cy="292608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66544"/>
            <a:ext cx="29260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11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3B31"/>
                </a:solidFill>
                <a:latin typeface="Segoe UI"/>
              </a:rPr>
              <a:t>Kasir lengkap: pilih pelanggan, diskon, tukar poin, nomor struk Majoo.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615184"/>
            <a:ext cx="292608" cy="292608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33472"/>
            <a:ext cx="29260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57860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3B31"/>
                </a:solidFill>
                <a:latin typeface="Segoe UI"/>
              </a:rPr>
              <a:t>Loyalitas penuh: poin otomatis, buku besar, arsip pelanggan.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182112"/>
            <a:ext cx="292608" cy="292608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29260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14553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3B31"/>
                </a:solidFill>
                <a:latin typeface="Segoe UI"/>
              </a:rPr>
              <a:t>Pemasaran: campaign WhatsApp per segmen, plus analitik kedai.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749040"/>
            <a:ext cx="292608" cy="292608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67328"/>
            <a:ext cx="29260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71246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3B31"/>
                </a:solidFill>
                <a:latin typeface="Segoe UI"/>
              </a:rPr>
              <a:t>Tiga peran dengan izin terpisah dan penjaga anti-kunci-diri.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315968"/>
            <a:ext cx="292608" cy="292608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34256"/>
            <a:ext cx="29260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2793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3B31"/>
                </a:solidFill>
                <a:latin typeface="Segoe UI"/>
              </a:rPr>
              <a:t>Keamanan berlapis: Row Level Security, middleware, dan penjaga peran.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4882896"/>
            <a:ext cx="292608" cy="292608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901184"/>
            <a:ext cx="29260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846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3B31"/>
                </a:solidFill>
                <a:latin typeface="Segoe UI"/>
              </a:rPr>
              <a:t>Kualitas terjamin: 694 asersi otomatis + pengujian manual tiga peran.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" y="5449824"/>
            <a:ext cx="292608" cy="292608"/>
          </a:xfrm>
          <a:prstGeom prst="ellipse">
            <a:avLst/>
          </a:prstGeom>
          <a:solidFill>
            <a:srgbClr val="6E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68112"/>
            <a:ext cx="29260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4132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3B31"/>
                </a:solidFill>
                <a:latin typeface="Segoe UI"/>
              </a:rPr>
              <a:t>Panduan pengujian dan materi presentasi tersedia untuk serah terima.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Kataloji CRM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LANJUTAN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A1D14"/>
                </a:solidFill>
                <a:latin typeface="Segoe UI"/>
              </a:rPr>
              <a:t>Rencana lanjutan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89888"/>
            <a:ext cx="1371600" cy="64008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E5D52"/>
                </a:solidFill>
                <a:latin typeface="Segoe UI"/>
              </a:rPr>
              <a:t>Arah pengembangan setelah serah terima.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611880" cy="301752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3611880" cy="457200"/>
          </a:xfrm>
          <a:prstGeom prst="rect">
            <a:avLst/>
          </a:prstGeom>
          <a:solidFill>
            <a:srgbClr val="C9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57984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Segera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315468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A3B31"/>
                </a:solidFill>
                <a:latin typeface="Segoe UI"/>
              </a:rPr>
              <a:t>Uji di iPad/HP kasir sungguhan (layar kecil belum diuji), tutup pendaftaran publik, dan isi data pelanggan awal.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2103120"/>
            <a:ext cx="3611880" cy="301752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07992" y="2103120"/>
            <a:ext cx="3611880" cy="457200"/>
          </a:xfrm>
          <a:prstGeom prst="rect">
            <a:avLst/>
          </a:prstGeom>
          <a:solidFill>
            <a:srgbClr val="A96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2157984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Dekat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743200"/>
            <a:ext cx="315468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A3B31"/>
                </a:solidFill>
                <a:latin typeface="Segoe UI"/>
              </a:rPr>
              <a:t>Notifikasi WhatsApp otomatis saat ulang tahun, laporan yang bisa diekspor, dan struk digital.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75904" y="2103120"/>
            <a:ext cx="3611880" cy="301752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2700">
            <a:solidFill>
              <a:srgbClr val="A96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75904" y="2103120"/>
            <a:ext cx="3611880" cy="457200"/>
          </a:xfrm>
          <a:prstGeom prst="rect">
            <a:avLst/>
          </a:prstGeom>
          <a:solidFill>
            <a:srgbClr val="526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2157984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Nanti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2743200"/>
            <a:ext cx="315468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A3B31"/>
                </a:solidFill>
                <a:latin typeface="Segoe UI"/>
              </a:rPr>
              <a:t>Aplikasi pelanggan untuk melihat saldo poin sendiri, pemesanan daring, dan integrasi pembayaran.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Kataloji CRM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41848" y="1554480"/>
            <a:ext cx="914400" cy="914400"/>
          </a:xfrm>
          <a:prstGeom prst="ellipse">
            <a:avLst/>
          </a:prstGeom>
          <a:solidFill>
            <a:srgbClr val="C8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41848" y="1645920"/>
            <a:ext cx="914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Segoe UI"/>
              </a:rPr>
              <a:t>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9445752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Terima kasih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86200"/>
            <a:ext cx="944575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E6D8CE"/>
                </a:solidFill>
                <a:latin typeface="Segoe UI"/>
              </a:rPr>
              <a:t>Siap dipakai, siap ditunjukkan ke pelanggan pertama.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1206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C9A96B"/>
                </a:solidFill>
                <a:latin typeface="Segoe UI"/>
              </a:rPr>
              <a:t>Kataloji CRM — Kasir · Loyalitas · Pemasaran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Kataloji CRM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5D52"/>
                </a:solidFill>
                <a:latin typeface="Segoe U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